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4"/>
  </p:notesMasterIdLst>
  <p:sldIdLst>
    <p:sldId id="256" r:id="rId2"/>
    <p:sldId id="257" r:id="rId3"/>
    <p:sldId id="258" r:id="rId4"/>
    <p:sldId id="259" r:id="rId5"/>
    <p:sldId id="261" r:id="rId6"/>
    <p:sldId id="260" r:id="rId7"/>
    <p:sldId id="266" r:id="rId8"/>
    <p:sldId id="267" r:id="rId9"/>
    <p:sldId id="262" r:id="rId10"/>
    <p:sldId id="263" r:id="rId11"/>
    <p:sldId id="264" r:id="rId12"/>
    <p:sldId id="265"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60" d="100"/>
          <a:sy n="60" d="100"/>
        </p:scale>
        <p:origin x="840" y="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38013B7-7B85-4FBF-BD83-CA61A9EA4F5C}" type="datetimeFigureOut">
              <a:rPr lang="en-US" smtClean="0"/>
              <a:t>1/12/2026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7A59B46-068C-4158-89AF-40C67105BDD4}" type="slidenum">
              <a:rPr lang="en-US" smtClean="0"/>
              <a:t>‹#›</a:t>
            </a:fld>
            <a:endParaRPr lang="en-US"/>
          </a:p>
        </p:txBody>
      </p:sp>
    </p:spTree>
    <p:extLst>
      <p:ext uri="{BB962C8B-B14F-4D97-AF65-F5344CB8AC3E}">
        <p14:creationId xmlns:p14="http://schemas.microsoft.com/office/powerpoint/2010/main" val="345713918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105EC2BF-B66D-4C1B-AA03-1759EEFCF0BE}" type="datetime1">
              <a:rPr lang="en-US" smtClean="0"/>
              <a:t>1/12/2026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7A85889-8B24-491E-B972-E01C9BD7B56E}" type="slidenum">
              <a:rPr lang="en-US" smtClean="0"/>
              <a:t>‹#›</a:t>
            </a:fld>
            <a:endParaRPr lang="en-US"/>
          </a:p>
        </p:txBody>
      </p:sp>
    </p:spTree>
    <p:extLst>
      <p:ext uri="{BB962C8B-B14F-4D97-AF65-F5344CB8AC3E}">
        <p14:creationId xmlns:p14="http://schemas.microsoft.com/office/powerpoint/2010/main" val="332929945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F358E604-3E51-4D1C-BE9A-5D38CA7C6375}" type="datetime1">
              <a:rPr lang="en-US" smtClean="0"/>
              <a:t>1/12/2026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7A85889-8B24-491E-B972-E01C9BD7B56E}" type="slidenum">
              <a:rPr lang="en-US" smtClean="0"/>
              <a:t>‹#›</a:t>
            </a:fld>
            <a:endParaRPr lang="en-US"/>
          </a:p>
        </p:txBody>
      </p:sp>
    </p:spTree>
    <p:extLst>
      <p:ext uri="{BB962C8B-B14F-4D97-AF65-F5344CB8AC3E}">
        <p14:creationId xmlns:p14="http://schemas.microsoft.com/office/powerpoint/2010/main" val="309827565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CE68D8A7-F283-4FE7-BF04-4476CDF154B6}" type="datetime1">
              <a:rPr lang="en-US" smtClean="0"/>
              <a:t>1/12/2026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7A85889-8B24-491E-B972-E01C9BD7B56E}" type="slidenum">
              <a:rPr lang="en-US" smtClean="0"/>
              <a:t>‹#›</a:t>
            </a:fld>
            <a:endParaRPr lang="en-US"/>
          </a:p>
        </p:txBody>
      </p:sp>
    </p:spTree>
    <p:extLst>
      <p:ext uri="{BB962C8B-B14F-4D97-AF65-F5344CB8AC3E}">
        <p14:creationId xmlns:p14="http://schemas.microsoft.com/office/powerpoint/2010/main" val="333179830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E771D24B-DDC9-48FE-89D8-878327565988}" type="datetime1">
              <a:rPr lang="en-US" smtClean="0"/>
              <a:t>1/12/2026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7A85889-8B24-491E-B972-E01C9BD7B56E}" type="slidenum">
              <a:rPr lang="en-US" smtClean="0"/>
              <a:t>‹#›</a:t>
            </a:fld>
            <a:endParaRPr lang="en-US"/>
          </a:p>
        </p:txBody>
      </p:sp>
    </p:spTree>
    <p:extLst>
      <p:ext uri="{BB962C8B-B14F-4D97-AF65-F5344CB8AC3E}">
        <p14:creationId xmlns:p14="http://schemas.microsoft.com/office/powerpoint/2010/main" val="196699273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A6F7E13D-F779-42C8-A990-DBC3C563E949}" type="datetime1">
              <a:rPr lang="en-US" smtClean="0"/>
              <a:t>1/12/2026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87A85889-8B24-491E-B972-E01C9BD7B56E}" type="slidenum">
              <a:rPr lang="en-US" smtClean="0"/>
              <a:t>‹#›</a:t>
            </a:fld>
            <a:endParaRPr lang="en-US"/>
          </a:p>
        </p:txBody>
      </p:sp>
    </p:spTree>
    <p:extLst>
      <p:ext uri="{BB962C8B-B14F-4D97-AF65-F5344CB8AC3E}">
        <p14:creationId xmlns:p14="http://schemas.microsoft.com/office/powerpoint/2010/main" val="188959358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989AD065-F148-402F-82B2-FAD275650EA4}" type="datetime1">
              <a:rPr lang="en-US" smtClean="0"/>
              <a:t>1/12/2026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87A85889-8B24-491E-B972-E01C9BD7B56E}" type="slidenum">
              <a:rPr lang="en-US" smtClean="0"/>
              <a:t>‹#›</a:t>
            </a:fld>
            <a:endParaRPr lang="en-US"/>
          </a:p>
        </p:txBody>
      </p:sp>
    </p:spTree>
    <p:extLst>
      <p:ext uri="{BB962C8B-B14F-4D97-AF65-F5344CB8AC3E}">
        <p14:creationId xmlns:p14="http://schemas.microsoft.com/office/powerpoint/2010/main" val="384470334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168B30F-F790-4556-93CE-46FEB56DEE3A}" type="datetime1">
              <a:rPr lang="en-US" smtClean="0"/>
              <a:t>1/12/2026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87A85889-8B24-491E-B972-E01C9BD7B56E}" type="slidenum">
              <a:rPr lang="en-US" smtClean="0"/>
              <a:t>‹#›</a:t>
            </a:fld>
            <a:endParaRPr lang="en-US"/>
          </a:p>
        </p:txBody>
      </p:sp>
    </p:spTree>
    <p:extLst>
      <p:ext uri="{BB962C8B-B14F-4D97-AF65-F5344CB8AC3E}">
        <p14:creationId xmlns:p14="http://schemas.microsoft.com/office/powerpoint/2010/main" val="196409995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F9B4C42C-ABCA-45F3-8881-FED9C29D192C}" type="datetime1">
              <a:rPr lang="en-US" smtClean="0"/>
              <a:t>1/12/2026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7A85889-8B24-491E-B972-E01C9BD7B56E}" type="slidenum">
              <a:rPr lang="en-US" smtClean="0"/>
              <a:t>‹#›</a:t>
            </a:fld>
            <a:endParaRPr lang="en-US"/>
          </a:p>
        </p:txBody>
      </p:sp>
    </p:spTree>
    <p:extLst>
      <p:ext uri="{BB962C8B-B14F-4D97-AF65-F5344CB8AC3E}">
        <p14:creationId xmlns:p14="http://schemas.microsoft.com/office/powerpoint/2010/main" val="400389470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B7D6D638-4A45-4E0D-A67D-B6391294B72E}" type="datetime1">
              <a:rPr lang="en-US" smtClean="0"/>
              <a:t>1/12/2026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7A85889-8B24-491E-B972-E01C9BD7B56E}" type="slidenum">
              <a:rPr lang="en-US" smtClean="0"/>
              <a:t>‹#›</a:t>
            </a:fld>
            <a:endParaRPr lang="en-US"/>
          </a:p>
        </p:txBody>
      </p:sp>
    </p:spTree>
    <p:extLst>
      <p:ext uri="{BB962C8B-B14F-4D97-AF65-F5344CB8AC3E}">
        <p14:creationId xmlns:p14="http://schemas.microsoft.com/office/powerpoint/2010/main" val="215458072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53ED0B3-1C6C-48FE-A5FB-639CD252499E}" type="datetime1">
              <a:rPr lang="en-US" smtClean="0"/>
              <a:t>1/12/2026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7A85889-8B24-491E-B972-E01C9BD7B56E}" type="slidenum">
              <a:rPr lang="en-US" smtClean="0"/>
              <a:t>‹#›</a:t>
            </a:fld>
            <a:endParaRPr lang="en-US"/>
          </a:p>
        </p:txBody>
      </p:sp>
    </p:spTree>
    <p:extLst>
      <p:ext uri="{BB962C8B-B14F-4D97-AF65-F5344CB8AC3E}">
        <p14:creationId xmlns:p14="http://schemas.microsoft.com/office/powerpoint/2010/main" val="144624310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BB0417D3-1279-41CF-B60A-74D3DC609898}" type="datetime1">
              <a:rPr lang="en-US" smtClean="0"/>
              <a:t>1/12/2026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7A85889-8B24-491E-B972-E01C9BD7B56E}" type="slidenum">
              <a:rPr lang="en-US" smtClean="0"/>
              <a:t>‹#›</a:t>
            </a:fld>
            <a:endParaRPr lang="en-US"/>
          </a:p>
        </p:txBody>
      </p:sp>
    </p:spTree>
    <p:extLst>
      <p:ext uri="{BB962C8B-B14F-4D97-AF65-F5344CB8AC3E}">
        <p14:creationId xmlns:p14="http://schemas.microsoft.com/office/powerpoint/2010/main" val="177178358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6">
            <a:lumMod val="20000"/>
            <a:lumOff val="80000"/>
          </a:schemeClr>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26BAF2F-4B5F-45E6-8056-AC2A8EC6629C}" type="datetime1">
              <a:rPr lang="en-US" smtClean="0"/>
              <a:t>1/12/2026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7A85889-8B24-491E-B972-E01C9BD7B56E}" type="slidenum">
              <a:rPr lang="en-US" smtClean="0"/>
              <a:t>‹#›</a:t>
            </a:fld>
            <a:endParaRPr lang="en-US"/>
          </a:p>
        </p:txBody>
      </p:sp>
    </p:spTree>
    <p:extLst>
      <p:ext uri="{BB962C8B-B14F-4D97-AF65-F5344CB8AC3E}">
        <p14:creationId xmlns:p14="http://schemas.microsoft.com/office/powerpoint/2010/main" val="101972908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3"/>
          <p:cNvSpPr/>
          <p:nvPr/>
        </p:nvSpPr>
        <p:spPr>
          <a:xfrm>
            <a:off x="222070" y="235131"/>
            <a:ext cx="11756570" cy="6387738"/>
          </a:xfrm>
          <a:prstGeom prst="roundRect">
            <a:avLst>
              <a:gd name="adj" fmla="val 4595"/>
            </a:avLst>
          </a:prstGeom>
          <a:noFill/>
          <a:ln w="38100">
            <a:solidFill>
              <a:schemeClr val="accent1">
                <a:shade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p:cNvSpPr txBox="1"/>
          <p:nvPr/>
        </p:nvSpPr>
        <p:spPr>
          <a:xfrm>
            <a:off x="2801749" y="706726"/>
            <a:ext cx="6935372" cy="707886"/>
          </a:xfrm>
          <a:prstGeom prst="rect">
            <a:avLst/>
          </a:prstGeom>
          <a:noFill/>
        </p:spPr>
        <p:txBody>
          <a:bodyPr wrap="square" rtlCol="0">
            <a:spAutoFit/>
          </a:bodyPr>
          <a:lstStyle/>
          <a:p>
            <a:pPr algn="ctr"/>
            <a:r>
              <a:rPr lang="en-GB" sz="2000" b="1" dirty="0">
                <a:solidFill>
                  <a:schemeClr val="accent5">
                    <a:lumMod val="50000"/>
                  </a:schemeClr>
                </a:solidFill>
              </a:rPr>
              <a:t>2020 2nd International Conference on Sustainable Technologies</a:t>
            </a:r>
          </a:p>
          <a:p>
            <a:pPr algn="ctr"/>
            <a:r>
              <a:rPr lang="en-GB" sz="2000" b="1" dirty="0">
                <a:solidFill>
                  <a:schemeClr val="accent5">
                    <a:lumMod val="50000"/>
                  </a:schemeClr>
                </a:solidFill>
              </a:rPr>
              <a:t>for Industry 4.0 (STI), 19-20 December, Dhaka</a:t>
            </a:r>
            <a:endParaRPr lang="en-US" sz="2000" b="1" dirty="0">
              <a:solidFill>
                <a:schemeClr val="accent5">
                  <a:lumMod val="50000"/>
                </a:schemeClr>
              </a:solidFill>
            </a:endParaRPr>
          </a:p>
        </p:txBody>
      </p:sp>
      <p:sp>
        <p:nvSpPr>
          <p:cNvPr id="6" name="Rectangle 2"/>
          <p:cNvSpPr txBox="1">
            <a:spLocks noChangeArrowheads="1"/>
          </p:cNvSpPr>
          <p:nvPr/>
        </p:nvSpPr>
        <p:spPr>
          <a:xfrm>
            <a:off x="222070" y="2672469"/>
            <a:ext cx="11756570" cy="1444989"/>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GB" altLang="zh-CN" sz="3600" b="1" dirty="0">
                <a:solidFill>
                  <a:schemeClr val="accent5">
                    <a:lumMod val="50000"/>
                  </a:schemeClr>
                </a:solidFill>
                <a:latin typeface="+mn-lt"/>
                <a:ea typeface="宋体" pitchFamily="2" charset="-122"/>
                <a:cs typeface="Calibri" pitchFamily="34" charset="0"/>
              </a:rPr>
              <a:t>A STUDY ON SCATTERING AND ABSORPTION CROSS-SECTIONS OF GOLD NANOSPHERE FOR OPTIMUM OPTICAL EFFICIENCY</a:t>
            </a:r>
          </a:p>
        </p:txBody>
      </p:sp>
      <p:sp>
        <p:nvSpPr>
          <p:cNvPr id="7" name="Rectangle 12"/>
          <p:cNvSpPr>
            <a:spLocks noChangeArrowheads="1"/>
          </p:cNvSpPr>
          <p:nvPr/>
        </p:nvSpPr>
        <p:spPr bwMode="auto">
          <a:xfrm>
            <a:off x="65314" y="4367438"/>
            <a:ext cx="11756570" cy="17278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417318" tIns="208656" rIns="417318" bIns="208656" anchor="ctr"/>
          <a:lstStyle/>
          <a:p>
            <a:pPr algn="ctr" defTabSz="4174416"/>
            <a:r>
              <a:rPr lang="en-GB" altLang="zh-CN" sz="2200" b="1" dirty="0">
                <a:solidFill>
                  <a:schemeClr val="accent5">
                    <a:lumMod val="50000"/>
                  </a:schemeClr>
                </a:solidFill>
                <a:ea typeface="宋体" pitchFamily="2" charset="-122"/>
                <a:cs typeface="Calibri" pitchFamily="34" charset="0"/>
              </a:rPr>
              <a:t>Md. Amzadul Hoque Chowdhury, Md. Shah Kamal,  Md. Fakhrul Alam, Md. Masud Rana </a:t>
            </a:r>
          </a:p>
          <a:p>
            <a:pPr algn="ctr" defTabSz="4174416"/>
            <a:r>
              <a:rPr lang="en-GB" altLang="zh-CN" sz="1600" b="1" i="1" dirty="0">
                <a:solidFill>
                  <a:schemeClr val="accent5">
                    <a:lumMod val="50000"/>
                  </a:schemeClr>
                </a:solidFill>
                <a:ea typeface="宋体" pitchFamily="2" charset="-122"/>
                <a:cs typeface="Calibri" pitchFamily="34" charset="0"/>
              </a:rPr>
              <a:t>Department of Biomedical Physics &amp; Technology, Department of Electrical &amp; Electronic Engineering, University of Dhaka</a:t>
            </a:r>
          </a:p>
          <a:p>
            <a:pPr algn="ctr" defTabSz="4174416"/>
            <a:r>
              <a:rPr lang="en-GB" altLang="zh-CN" sz="1600" b="1" i="1" dirty="0">
                <a:solidFill>
                  <a:schemeClr val="accent5">
                    <a:lumMod val="50000"/>
                  </a:schemeClr>
                </a:solidFill>
                <a:ea typeface="宋体" pitchFamily="2" charset="-122"/>
                <a:cs typeface="Calibri" pitchFamily="34" charset="0"/>
              </a:rPr>
              <a:t>Department of Electrical, Electronic &amp; Communication Engineering, Military Institute of Science &amp; Technology, </a:t>
            </a:r>
          </a:p>
          <a:p>
            <a:pPr algn="ctr" defTabSz="4174416"/>
            <a:r>
              <a:rPr lang="en-GB" altLang="zh-CN" sz="1600" b="1" i="1" dirty="0">
                <a:solidFill>
                  <a:schemeClr val="accent5">
                    <a:lumMod val="50000"/>
                  </a:schemeClr>
                </a:solidFill>
                <a:ea typeface="宋体" pitchFamily="2" charset="-122"/>
                <a:cs typeface="Calibri" pitchFamily="34" charset="0"/>
              </a:rPr>
              <a:t>Department of Mechanical &amp; Production Engineering, Ahsanullah University of Science &amp; Technology</a:t>
            </a:r>
            <a:r>
              <a:rPr lang="en-GB" altLang="zh-CN" sz="1600" b="1" dirty="0">
                <a:solidFill>
                  <a:schemeClr val="accent5">
                    <a:lumMod val="50000"/>
                  </a:schemeClr>
                </a:solidFill>
                <a:ea typeface="宋体" pitchFamily="2" charset="-122"/>
                <a:cs typeface="Calibri" pitchFamily="34" charset="0"/>
              </a:rPr>
              <a:t>.</a:t>
            </a:r>
          </a:p>
        </p:txBody>
      </p:sp>
      <p:sp>
        <p:nvSpPr>
          <p:cNvPr id="8" name="TextBox 7"/>
          <p:cNvSpPr txBox="1"/>
          <p:nvPr/>
        </p:nvSpPr>
        <p:spPr>
          <a:xfrm>
            <a:off x="5078514" y="1664592"/>
            <a:ext cx="2410857" cy="461665"/>
          </a:xfrm>
          <a:prstGeom prst="rect">
            <a:avLst/>
          </a:prstGeom>
          <a:noFill/>
        </p:spPr>
        <p:txBody>
          <a:bodyPr wrap="square" rtlCol="0">
            <a:spAutoFit/>
          </a:bodyPr>
          <a:lstStyle/>
          <a:p>
            <a:r>
              <a:rPr lang="en-GB" sz="2400" b="1" i="1" dirty="0">
                <a:solidFill>
                  <a:schemeClr val="accent5">
                    <a:lumMod val="50000"/>
                  </a:schemeClr>
                </a:solidFill>
              </a:rPr>
              <a:t>Poster ID- 245</a:t>
            </a:r>
            <a:endParaRPr lang="en-US" sz="2400" b="1" i="1" dirty="0">
              <a:solidFill>
                <a:schemeClr val="accent5">
                  <a:lumMod val="50000"/>
                </a:schemeClr>
              </a:solidFill>
            </a:endParaRPr>
          </a:p>
        </p:txBody>
      </p:sp>
      <p:pic>
        <p:nvPicPr>
          <p:cNvPr id="2" name="Picture 1">
            <a:extLst>
              <a:ext uri="{FF2B5EF4-FFF2-40B4-BE49-F238E27FC236}">
                <a16:creationId xmlns:a16="http://schemas.microsoft.com/office/drawing/2014/main" id="{7752A8AA-C9F7-5EBC-854B-0334FA6E341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32135" y="429322"/>
            <a:ext cx="1412105" cy="1412105"/>
          </a:xfrm>
          <a:prstGeom prst="rect">
            <a:avLst/>
          </a:prstGeom>
        </p:spPr>
      </p:pic>
    </p:spTree>
    <p:extLst>
      <p:ext uri="{BB962C8B-B14F-4D97-AF65-F5344CB8AC3E}">
        <p14:creationId xmlns:p14="http://schemas.microsoft.com/office/powerpoint/2010/main" val="99304703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3"/>
          <p:cNvSpPr/>
          <p:nvPr/>
        </p:nvSpPr>
        <p:spPr>
          <a:xfrm>
            <a:off x="295421" y="143209"/>
            <a:ext cx="11619914" cy="5908430"/>
          </a:xfrm>
          <a:prstGeom prst="roundRect">
            <a:avLst>
              <a:gd name="adj" fmla="val 3079"/>
            </a:avLst>
          </a:prstGeom>
          <a:noFill/>
          <a:ln w="38100">
            <a:solidFill>
              <a:schemeClr val="accent1">
                <a:shade val="50000"/>
                <a:alpha val="99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p:cNvSpPr txBox="1"/>
          <p:nvPr/>
        </p:nvSpPr>
        <p:spPr>
          <a:xfrm>
            <a:off x="4783015" y="6051639"/>
            <a:ext cx="6935372" cy="646331"/>
          </a:xfrm>
          <a:prstGeom prst="rect">
            <a:avLst/>
          </a:prstGeom>
          <a:noFill/>
        </p:spPr>
        <p:txBody>
          <a:bodyPr wrap="square" rtlCol="0">
            <a:spAutoFit/>
          </a:bodyPr>
          <a:lstStyle/>
          <a:p>
            <a:pPr algn="r"/>
            <a:r>
              <a:rPr lang="en-GB" b="1" dirty="0">
                <a:solidFill>
                  <a:schemeClr val="accent5">
                    <a:lumMod val="50000"/>
                  </a:schemeClr>
                </a:solidFill>
              </a:rPr>
              <a:t>2020 2nd International Conference on Sustainable Technologies</a:t>
            </a:r>
          </a:p>
          <a:p>
            <a:pPr algn="r"/>
            <a:r>
              <a:rPr lang="en-GB" b="1" dirty="0">
                <a:solidFill>
                  <a:schemeClr val="accent5">
                    <a:lumMod val="50000"/>
                  </a:schemeClr>
                </a:solidFill>
              </a:rPr>
              <a:t>for Industry 4.0 (STI), 19-20 December, Dhaka</a:t>
            </a:r>
            <a:endParaRPr lang="en-US" b="1" dirty="0">
              <a:solidFill>
                <a:schemeClr val="accent5">
                  <a:lumMod val="50000"/>
                </a:schemeClr>
              </a:solidFill>
            </a:endParaRPr>
          </a:p>
        </p:txBody>
      </p:sp>
      <p:sp>
        <p:nvSpPr>
          <p:cNvPr id="6" name="TextBox 5"/>
          <p:cNvSpPr txBox="1"/>
          <p:nvPr/>
        </p:nvSpPr>
        <p:spPr>
          <a:xfrm>
            <a:off x="507999" y="333829"/>
            <a:ext cx="2002972" cy="584775"/>
          </a:xfrm>
          <a:prstGeom prst="rect">
            <a:avLst/>
          </a:prstGeom>
          <a:noFill/>
        </p:spPr>
        <p:txBody>
          <a:bodyPr wrap="square" rtlCol="0">
            <a:spAutoFit/>
          </a:bodyPr>
          <a:lstStyle/>
          <a:p>
            <a:r>
              <a:rPr lang="en-GB" sz="3200" b="1" i="1" dirty="0">
                <a:solidFill>
                  <a:schemeClr val="accent5">
                    <a:lumMod val="50000"/>
                  </a:schemeClr>
                </a:solidFill>
              </a:rPr>
              <a:t>ABSTRACT </a:t>
            </a:r>
            <a:endParaRPr lang="en-US" sz="3200" b="1" i="1" dirty="0">
              <a:solidFill>
                <a:schemeClr val="accent5">
                  <a:lumMod val="50000"/>
                </a:schemeClr>
              </a:solidFill>
            </a:endParaRPr>
          </a:p>
        </p:txBody>
      </p:sp>
      <p:sp>
        <p:nvSpPr>
          <p:cNvPr id="8" name="Rectangle 7"/>
          <p:cNvSpPr/>
          <p:nvPr/>
        </p:nvSpPr>
        <p:spPr>
          <a:xfrm>
            <a:off x="769337" y="1069075"/>
            <a:ext cx="10660663" cy="4832092"/>
          </a:xfrm>
          <a:prstGeom prst="rect">
            <a:avLst/>
          </a:prstGeom>
        </p:spPr>
        <p:txBody>
          <a:bodyPr wrap="square">
            <a:spAutoFit/>
          </a:bodyPr>
          <a:lstStyle/>
          <a:p>
            <a:pPr algn="just">
              <a:spcAft>
                <a:spcPts val="1602"/>
              </a:spcAft>
            </a:pPr>
            <a:r>
              <a:rPr lang="en-GB" altLang="zh-CN" sz="2200" dirty="0">
                <a:ea typeface="宋体" pitchFamily="2" charset="-122"/>
                <a:cs typeface="Calibri" pitchFamily="34" charset="0"/>
              </a:rPr>
              <a:t>The poster presents a study on scattering and absorption cross section of gold (Au) </a:t>
            </a:r>
            <a:r>
              <a:rPr lang="en-GB" altLang="zh-CN" sz="2200" dirty="0" err="1">
                <a:ea typeface="宋体" pitchFamily="2" charset="-122"/>
                <a:cs typeface="Calibri" pitchFamily="34" charset="0"/>
              </a:rPr>
              <a:t>nanosphere</a:t>
            </a:r>
            <a:r>
              <a:rPr lang="en-GB" altLang="zh-CN" sz="2200" dirty="0">
                <a:ea typeface="宋体" pitchFamily="2" charset="-122"/>
                <a:cs typeface="Calibri" pitchFamily="34" charset="0"/>
              </a:rPr>
              <a:t> using </a:t>
            </a:r>
            <a:r>
              <a:rPr lang="en-GB" altLang="zh-CN" sz="2200" dirty="0" err="1">
                <a:ea typeface="宋体" pitchFamily="2" charset="-122"/>
                <a:cs typeface="Calibri" pitchFamily="34" charset="0"/>
              </a:rPr>
              <a:t>Nanosphere</a:t>
            </a:r>
            <a:r>
              <a:rPr lang="en-GB" altLang="zh-CN" sz="2200" dirty="0">
                <a:ea typeface="宋体" pitchFamily="2" charset="-122"/>
                <a:cs typeface="Calibri" pitchFamily="34" charset="0"/>
              </a:rPr>
              <a:t> optics lab simulator. The scattering and absorption cross-sections with respect to wavelength have been calculated. It has been found that absorption efficiency increases for Au </a:t>
            </a:r>
            <a:r>
              <a:rPr lang="en-GB" altLang="zh-CN" sz="2200" dirty="0" err="1">
                <a:ea typeface="宋体" pitchFamily="2" charset="-122"/>
                <a:cs typeface="Calibri" pitchFamily="34" charset="0"/>
              </a:rPr>
              <a:t>nanosphere</a:t>
            </a:r>
            <a:r>
              <a:rPr lang="en-GB" altLang="zh-CN" sz="2200" dirty="0">
                <a:ea typeface="宋体" pitchFamily="2" charset="-122"/>
                <a:cs typeface="Calibri" pitchFamily="34" charset="0"/>
              </a:rPr>
              <a:t> with the increase of refractive index of the surrounding medium. The scattering efficiency is also found to increase with the increase of refractive index of the medium until the efficiency reaches its peak value for an index of 3.5. Any further increment of the refractive index results in the decrease of scattering efficiency. Another interesting finding is that the peak value of the scattering and absorption efficiencies for Au </a:t>
            </a:r>
            <a:r>
              <a:rPr lang="en-GB" altLang="zh-CN" sz="2200" dirty="0" err="1">
                <a:ea typeface="宋体" pitchFamily="2" charset="-122"/>
                <a:cs typeface="Calibri" pitchFamily="34" charset="0"/>
              </a:rPr>
              <a:t>nanosphere</a:t>
            </a:r>
            <a:r>
              <a:rPr lang="en-GB" altLang="zh-CN" sz="2200" dirty="0">
                <a:ea typeface="宋体" pitchFamily="2" charset="-122"/>
                <a:cs typeface="Calibri" pitchFamily="34" charset="0"/>
              </a:rPr>
              <a:t> shifts to higher wavelength. Maximum optical efficiency has been achieved by </a:t>
            </a:r>
            <a:r>
              <a:rPr lang="en-GB" altLang="zh-CN" sz="2200" dirty="0" err="1">
                <a:ea typeface="宋体" pitchFamily="2" charset="-122"/>
                <a:cs typeface="Calibri" pitchFamily="34" charset="0"/>
              </a:rPr>
              <a:t>analyzing</a:t>
            </a:r>
            <a:r>
              <a:rPr lang="en-GB" altLang="zh-CN" sz="2200" dirty="0">
                <a:ea typeface="宋体" pitchFamily="2" charset="-122"/>
                <a:cs typeface="Calibri" pitchFamily="34" charset="0"/>
              </a:rPr>
              <a:t> </a:t>
            </a:r>
            <a:r>
              <a:rPr lang="en-GB" altLang="zh-CN" sz="2200" dirty="0" err="1">
                <a:ea typeface="宋体" pitchFamily="2" charset="-122"/>
                <a:cs typeface="Calibri" pitchFamily="34" charset="0"/>
              </a:rPr>
              <a:t>nanospheres</a:t>
            </a:r>
            <a:r>
              <a:rPr lang="en-GB" altLang="zh-CN" sz="2200" dirty="0">
                <a:ea typeface="宋体" pitchFamily="2" charset="-122"/>
                <a:cs typeface="Calibri" pitchFamily="34" charset="0"/>
              </a:rPr>
              <a:t> of various radii. For Au </a:t>
            </a:r>
            <a:r>
              <a:rPr lang="en-GB" altLang="zh-CN" sz="2200" dirty="0" err="1">
                <a:ea typeface="宋体" pitchFamily="2" charset="-122"/>
                <a:cs typeface="Calibri" pitchFamily="34" charset="0"/>
              </a:rPr>
              <a:t>nanosphere</a:t>
            </a:r>
            <a:r>
              <a:rPr lang="en-GB" altLang="zh-CN" sz="2200" dirty="0">
                <a:ea typeface="宋体" pitchFamily="2" charset="-122"/>
                <a:cs typeface="Calibri" pitchFamily="34" charset="0"/>
              </a:rPr>
              <a:t> the absorption efficiency is found to be 15.204% for 10 nm radius when the refractive index is 3.927 and the scattering efficiency is found to be 11.383% for 20 nm radius when the refractive index is 3.42. These optical properties can be used for enhancing absorption and scattering efficiency in solar cells and photodetectors respectively.</a:t>
            </a:r>
          </a:p>
        </p:txBody>
      </p:sp>
    </p:spTree>
    <p:extLst>
      <p:ext uri="{BB962C8B-B14F-4D97-AF65-F5344CB8AC3E}">
        <p14:creationId xmlns:p14="http://schemas.microsoft.com/office/powerpoint/2010/main" val="146616157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3"/>
          <p:cNvSpPr/>
          <p:nvPr/>
        </p:nvSpPr>
        <p:spPr>
          <a:xfrm>
            <a:off x="295421" y="143209"/>
            <a:ext cx="11619914" cy="5908430"/>
          </a:xfrm>
          <a:prstGeom prst="roundRect">
            <a:avLst>
              <a:gd name="adj" fmla="val 3079"/>
            </a:avLst>
          </a:prstGeom>
          <a:noFill/>
          <a:ln w="38100">
            <a:solidFill>
              <a:schemeClr val="accent1">
                <a:shade val="50000"/>
                <a:alpha val="99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p:cNvSpPr txBox="1"/>
          <p:nvPr/>
        </p:nvSpPr>
        <p:spPr>
          <a:xfrm>
            <a:off x="4783015" y="6051639"/>
            <a:ext cx="6935372" cy="646331"/>
          </a:xfrm>
          <a:prstGeom prst="rect">
            <a:avLst/>
          </a:prstGeom>
          <a:noFill/>
        </p:spPr>
        <p:txBody>
          <a:bodyPr wrap="square" rtlCol="0">
            <a:spAutoFit/>
          </a:bodyPr>
          <a:lstStyle/>
          <a:p>
            <a:pPr algn="r"/>
            <a:r>
              <a:rPr lang="en-GB" b="1" dirty="0">
                <a:solidFill>
                  <a:schemeClr val="accent5">
                    <a:lumMod val="50000"/>
                  </a:schemeClr>
                </a:solidFill>
              </a:rPr>
              <a:t>2020 2nd International Conference on Sustainable Technologies</a:t>
            </a:r>
          </a:p>
          <a:p>
            <a:pPr algn="r"/>
            <a:r>
              <a:rPr lang="en-GB" b="1" dirty="0">
                <a:solidFill>
                  <a:schemeClr val="accent5">
                    <a:lumMod val="50000"/>
                  </a:schemeClr>
                </a:solidFill>
              </a:rPr>
              <a:t>for Industry 4.0 (STI), 19-20 December, Dhaka</a:t>
            </a:r>
            <a:endParaRPr lang="en-US" b="1" dirty="0">
              <a:solidFill>
                <a:schemeClr val="accent5">
                  <a:lumMod val="50000"/>
                </a:schemeClr>
              </a:solidFill>
            </a:endParaRPr>
          </a:p>
        </p:txBody>
      </p:sp>
      <p:sp>
        <p:nvSpPr>
          <p:cNvPr id="6" name="TextBox 5"/>
          <p:cNvSpPr txBox="1"/>
          <p:nvPr/>
        </p:nvSpPr>
        <p:spPr>
          <a:xfrm>
            <a:off x="507998" y="333829"/>
            <a:ext cx="6921501" cy="584775"/>
          </a:xfrm>
          <a:prstGeom prst="rect">
            <a:avLst/>
          </a:prstGeom>
          <a:noFill/>
        </p:spPr>
        <p:txBody>
          <a:bodyPr wrap="square" rtlCol="0">
            <a:spAutoFit/>
          </a:bodyPr>
          <a:lstStyle/>
          <a:p>
            <a:r>
              <a:rPr lang="en-GB" sz="3200" b="1" i="1" dirty="0">
                <a:solidFill>
                  <a:schemeClr val="accent5">
                    <a:lumMod val="50000"/>
                  </a:schemeClr>
                </a:solidFill>
              </a:rPr>
              <a:t>INTRODUCTION &amp; LITERATURE REVIEW</a:t>
            </a:r>
          </a:p>
        </p:txBody>
      </p:sp>
      <p:sp>
        <p:nvSpPr>
          <p:cNvPr id="8" name="Rectangle 7"/>
          <p:cNvSpPr/>
          <p:nvPr/>
        </p:nvSpPr>
        <p:spPr>
          <a:xfrm>
            <a:off x="507998" y="1069075"/>
            <a:ext cx="11074403" cy="4647426"/>
          </a:xfrm>
          <a:prstGeom prst="rect">
            <a:avLst/>
          </a:prstGeom>
        </p:spPr>
        <p:txBody>
          <a:bodyPr wrap="square">
            <a:spAutoFit/>
          </a:bodyPr>
          <a:lstStyle/>
          <a:p>
            <a:pPr marL="285750" indent="-285750" algn="just">
              <a:spcAft>
                <a:spcPts val="1602"/>
              </a:spcAft>
              <a:buClr>
                <a:srgbClr val="002060"/>
              </a:buClr>
              <a:buFont typeface="Wingdings" panose="05000000000000000000" pitchFamily="2" charset="2"/>
              <a:buChar char="§"/>
            </a:pPr>
            <a:r>
              <a:rPr lang="en-GB" altLang="zh-CN" sz="1600" dirty="0">
                <a:ea typeface="宋体" pitchFamily="2" charset="-122"/>
                <a:cs typeface="Calibri" pitchFamily="34" charset="0"/>
              </a:rPr>
              <a:t>The optical properties of nanoparticles are important for both traditional and emerging technologies. Today, metallic nanoparticles are used in commercial coatings that absorb at particular solar wavelengths. Recently, the optical absorption of noble metal nanoparticles has been employed as the basis for novel sensors: the enhanced local fields close to particle surfaces makes it possible to detect single molecules by surface-enhanced spectroscopy [1]. </a:t>
            </a:r>
          </a:p>
          <a:p>
            <a:pPr marL="285750" indent="-285750" algn="just">
              <a:spcAft>
                <a:spcPts val="1602"/>
              </a:spcAft>
              <a:buClr>
                <a:srgbClr val="002060"/>
              </a:buClr>
              <a:buFont typeface="Wingdings" panose="05000000000000000000" pitchFamily="2" charset="2"/>
              <a:buChar char="§"/>
            </a:pPr>
            <a:r>
              <a:rPr lang="en-GB" altLang="zh-CN" sz="1600" dirty="0">
                <a:ea typeface="宋体" pitchFamily="2" charset="-122"/>
                <a:cs typeface="Calibri" pitchFamily="34" charset="0"/>
              </a:rPr>
              <a:t>Metallic nanoparticle and nanostructures exhibit Surface Plasmon Resonance (SPR), which is the coherent excitation of entire free electrons in the conduction band producing an in phase oscillation. Under resonance, light is tightly to the surface of the nanostructure, unit it gets eventually absorbed inside the metal or scattered back into photons [2].</a:t>
            </a:r>
          </a:p>
          <a:p>
            <a:pPr marL="285750" indent="-285750" algn="just">
              <a:spcAft>
                <a:spcPts val="1602"/>
              </a:spcAft>
              <a:buClr>
                <a:srgbClr val="002060"/>
              </a:buClr>
              <a:buFont typeface="Wingdings" panose="05000000000000000000" pitchFamily="2" charset="2"/>
              <a:buChar char="§"/>
            </a:pPr>
            <a:r>
              <a:rPr lang="en-GB" altLang="zh-CN" sz="1600" dirty="0">
                <a:ea typeface="宋体" pitchFamily="2" charset="-122"/>
                <a:cs typeface="Calibri" pitchFamily="34" charset="0"/>
              </a:rPr>
              <a:t>Au nanoparticles have some unique optical and electronic properties that are being researched and utilized in high technology applications such as organic photovoltaics, sensory probes, therapeutic agents, drug delivery in biological and medical applications, electronic conductors and catalysis. The optical and electronic properties of gold nanoparticles are tuneable by changing the size, shape, surface chemistry, or aggregation state. Gold nanoparticles interaction with light is strongly dictated by their environment, size and physical dimensions[3]. </a:t>
            </a:r>
          </a:p>
          <a:p>
            <a:pPr marL="285750" indent="-285750" algn="just">
              <a:spcAft>
                <a:spcPts val="1602"/>
              </a:spcAft>
              <a:buClr>
                <a:srgbClr val="002060"/>
              </a:buClr>
              <a:buFont typeface="Wingdings" panose="05000000000000000000" pitchFamily="2" charset="2"/>
              <a:buChar char="§"/>
            </a:pPr>
            <a:r>
              <a:rPr lang="en-GB" altLang="zh-CN" sz="1600" dirty="0">
                <a:ea typeface="宋体" pitchFamily="2" charset="-122"/>
                <a:cs typeface="Calibri" pitchFamily="34" charset="0"/>
              </a:rPr>
              <a:t>Strong SPRs are also observed for Au nanoparticles that can be tuned by varying the size or shape of nanoparticles, leading to particles with tailor optical properties for different applications. Different other nanostructures based on Au are also being analysed to be used for various application. Au based nanowire shows promising features for photovoltaic (PV) application due to their SPRs [4].</a:t>
            </a:r>
          </a:p>
        </p:txBody>
      </p:sp>
    </p:spTree>
    <p:extLst>
      <p:ext uri="{BB962C8B-B14F-4D97-AF65-F5344CB8AC3E}">
        <p14:creationId xmlns:p14="http://schemas.microsoft.com/office/powerpoint/2010/main" val="7944194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3"/>
          <p:cNvSpPr/>
          <p:nvPr/>
        </p:nvSpPr>
        <p:spPr>
          <a:xfrm>
            <a:off x="295421" y="143209"/>
            <a:ext cx="11619914" cy="5908430"/>
          </a:xfrm>
          <a:prstGeom prst="roundRect">
            <a:avLst>
              <a:gd name="adj" fmla="val 3079"/>
            </a:avLst>
          </a:prstGeom>
          <a:noFill/>
          <a:ln w="38100">
            <a:solidFill>
              <a:schemeClr val="accent1">
                <a:shade val="50000"/>
                <a:alpha val="99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p:cNvSpPr txBox="1"/>
          <p:nvPr/>
        </p:nvSpPr>
        <p:spPr>
          <a:xfrm>
            <a:off x="4783015" y="6051639"/>
            <a:ext cx="6935372" cy="646331"/>
          </a:xfrm>
          <a:prstGeom prst="rect">
            <a:avLst/>
          </a:prstGeom>
          <a:noFill/>
        </p:spPr>
        <p:txBody>
          <a:bodyPr wrap="square" rtlCol="0">
            <a:spAutoFit/>
          </a:bodyPr>
          <a:lstStyle/>
          <a:p>
            <a:pPr algn="r"/>
            <a:r>
              <a:rPr lang="en-GB" b="1" dirty="0">
                <a:solidFill>
                  <a:schemeClr val="accent5">
                    <a:lumMod val="50000"/>
                  </a:schemeClr>
                </a:solidFill>
              </a:rPr>
              <a:t>2020 2nd International Conference on Sustainable Technologies</a:t>
            </a:r>
          </a:p>
          <a:p>
            <a:pPr algn="r"/>
            <a:r>
              <a:rPr lang="en-GB" b="1" dirty="0">
                <a:solidFill>
                  <a:schemeClr val="accent5">
                    <a:lumMod val="50000"/>
                  </a:schemeClr>
                </a:solidFill>
              </a:rPr>
              <a:t>for Industry 4.0 (STI), 19-20 December, Dhaka</a:t>
            </a:r>
            <a:endParaRPr lang="en-US" b="1" dirty="0">
              <a:solidFill>
                <a:schemeClr val="accent5">
                  <a:lumMod val="50000"/>
                </a:schemeClr>
              </a:solidFill>
            </a:endParaRPr>
          </a:p>
        </p:txBody>
      </p:sp>
      <p:sp>
        <p:nvSpPr>
          <p:cNvPr id="6" name="TextBox 5"/>
          <p:cNvSpPr txBox="1"/>
          <p:nvPr/>
        </p:nvSpPr>
        <p:spPr>
          <a:xfrm>
            <a:off x="507999" y="333829"/>
            <a:ext cx="5568952" cy="1077218"/>
          </a:xfrm>
          <a:prstGeom prst="rect">
            <a:avLst/>
          </a:prstGeom>
          <a:noFill/>
        </p:spPr>
        <p:txBody>
          <a:bodyPr wrap="square" rtlCol="0">
            <a:spAutoFit/>
          </a:bodyPr>
          <a:lstStyle/>
          <a:p>
            <a:r>
              <a:rPr lang="en-GB" sz="3200" b="1" i="1" dirty="0">
                <a:solidFill>
                  <a:schemeClr val="accent5">
                    <a:lumMod val="50000"/>
                  </a:schemeClr>
                </a:solidFill>
              </a:rPr>
              <a:t>MODELLING AND SIMULATION</a:t>
            </a:r>
          </a:p>
          <a:p>
            <a:r>
              <a:rPr lang="en-GB" sz="3200" b="1" i="1" dirty="0">
                <a:solidFill>
                  <a:schemeClr val="accent5">
                    <a:lumMod val="50000"/>
                  </a:schemeClr>
                </a:solidFill>
              </a:rPr>
              <a:t> </a:t>
            </a:r>
            <a:endParaRPr lang="en-US" sz="3200" b="1" i="1" dirty="0">
              <a:solidFill>
                <a:schemeClr val="accent5">
                  <a:lumMod val="50000"/>
                </a:schemeClr>
              </a:solidFill>
            </a:endParaRPr>
          </a:p>
        </p:txBody>
      </p:sp>
      <p:sp>
        <p:nvSpPr>
          <p:cNvPr id="8" name="Rectangle 7"/>
          <p:cNvSpPr/>
          <p:nvPr/>
        </p:nvSpPr>
        <p:spPr>
          <a:xfrm>
            <a:off x="769337" y="1069075"/>
            <a:ext cx="10949050" cy="4852610"/>
          </a:xfrm>
          <a:prstGeom prst="rect">
            <a:avLst/>
          </a:prstGeom>
        </p:spPr>
        <p:txBody>
          <a:bodyPr wrap="square">
            <a:spAutoFit/>
          </a:bodyPr>
          <a:lstStyle/>
          <a:p>
            <a:pPr algn="just">
              <a:spcAft>
                <a:spcPts val="1602"/>
              </a:spcAft>
            </a:pPr>
            <a:r>
              <a:rPr lang="en-GB" altLang="zh-CN" sz="1600" dirty="0" err="1">
                <a:ea typeface="宋体" pitchFamily="2" charset="-122"/>
                <a:cs typeface="Calibri" pitchFamily="34" charset="0"/>
              </a:rPr>
              <a:t>Nanosphere</a:t>
            </a:r>
            <a:r>
              <a:rPr lang="en-GB" altLang="zh-CN" sz="1600" dirty="0">
                <a:ea typeface="宋体" pitchFamily="2" charset="-122"/>
                <a:cs typeface="Calibri" pitchFamily="34" charset="0"/>
              </a:rPr>
              <a:t> optics lab simulator is used for modelling and simulation which uses Mie theory for most of calculations [5].</a:t>
            </a:r>
          </a:p>
          <a:p>
            <a:pPr algn="just">
              <a:spcAft>
                <a:spcPts val="1602"/>
              </a:spcAft>
            </a:pPr>
            <a:r>
              <a:rPr lang="en-GB" altLang="zh-CN" sz="1600" dirty="0">
                <a:ea typeface="宋体" pitchFamily="2" charset="-122"/>
                <a:cs typeface="Calibri" pitchFamily="34" charset="0"/>
              </a:rPr>
              <a:t>A. Simulation parameters</a:t>
            </a:r>
          </a:p>
          <a:p>
            <a:pPr algn="just">
              <a:spcAft>
                <a:spcPts val="1602"/>
              </a:spcAft>
            </a:pPr>
            <a:r>
              <a:rPr lang="en-GB" altLang="zh-CN" sz="1600" dirty="0">
                <a:ea typeface="宋体" pitchFamily="2" charset="-122"/>
                <a:cs typeface="Calibri" pitchFamily="34" charset="0"/>
              </a:rPr>
              <a:t>	1. Particle composition</a:t>
            </a:r>
          </a:p>
          <a:p>
            <a:pPr algn="just">
              <a:spcAft>
                <a:spcPts val="1602"/>
              </a:spcAft>
            </a:pPr>
            <a:r>
              <a:rPr lang="en-GB" altLang="zh-CN" sz="1600" dirty="0">
                <a:ea typeface="宋体" pitchFamily="2" charset="-122"/>
                <a:cs typeface="Calibri" pitchFamily="34" charset="0"/>
              </a:rPr>
              <a:t>	2. Particle refractive index</a:t>
            </a:r>
          </a:p>
          <a:p>
            <a:pPr algn="just">
              <a:spcAft>
                <a:spcPts val="1602"/>
              </a:spcAft>
            </a:pPr>
            <a:r>
              <a:rPr lang="en-GB" altLang="zh-CN" sz="1600" dirty="0">
                <a:ea typeface="宋体" pitchFamily="2" charset="-122"/>
                <a:cs typeface="Calibri" pitchFamily="34" charset="0"/>
              </a:rPr>
              <a:t>	3. Surrounding medium refractive index</a:t>
            </a:r>
          </a:p>
          <a:p>
            <a:pPr algn="just">
              <a:spcAft>
                <a:spcPts val="1602"/>
              </a:spcAft>
            </a:pPr>
            <a:r>
              <a:rPr lang="en-GB" altLang="zh-CN" sz="1600" dirty="0">
                <a:ea typeface="宋体" pitchFamily="2" charset="-122"/>
                <a:cs typeface="Calibri" pitchFamily="34" charset="0"/>
              </a:rPr>
              <a:t>	4. Radius of particle</a:t>
            </a:r>
          </a:p>
          <a:p>
            <a:pPr algn="just">
              <a:spcAft>
                <a:spcPts val="1602"/>
              </a:spcAft>
            </a:pPr>
            <a:r>
              <a:rPr lang="en-GB" altLang="zh-CN" sz="1600" dirty="0">
                <a:ea typeface="宋体" pitchFamily="2" charset="-122"/>
                <a:cs typeface="Calibri" pitchFamily="34" charset="0"/>
              </a:rPr>
              <a:t>B. Parameter description and conditions</a:t>
            </a:r>
          </a:p>
          <a:p>
            <a:pPr algn="just">
              <a:spcAft>
                <a:spcPts val="1602"/>
              </a:spcAft>
            </a:pPr>
            <a:r>
              <a:rPr lang="en-GB" altLang="zh-CN" sz="1600" dirty="0">
                <a:ea typeface="宋体" pitchFamily="2" charset="-122"/>
                <a:cs typeface="Calibri" pitchFamily="34" charset="0"/>
              </a:rPr>
              <a:t>	1. Au </a:t>
            </a:r>
            <a:r>
              <a:rPr lang="en-GB" altLang="zh-CN" sz="1600" dirty="0" err="1">
                <a:ea typeface="宋体" pitchFamily="2" charset="-122"/>
                <a:cs typeface="Calibri" pitchFamily="34" charset="0"/>
              </a:rPr>
              <a:t>nanosphere</a:t>
            </a:r>
            <a:r>
              <a:rPr lang="en-GB" altLang="zh-CN" sz="1600" dirty="0">
                <a:ea typeface="宋体" pitchFamily="2" charset="-122"/>
                <a:cs typeface="Calibri" pitchFamily="34" charset="0"/>
              </a:rPr>
              <a:t> for particle composition.</a:t>
            </a:r>
          </a:p>
          <a:p>
            <a:pPr algn="just">
              <a:spcAft>
                <a:spcPts val="1602"/>
              </a:spcAft>
            </a:pPr>
            <a:r>
              <a:rPr lang="en-GB" altLang="zh-CN" sz="1600" dirty="0">
                <a:ea typeface="宋体" pitchFamily="2" charset="-122"/>
                <a:cs typeface="Calibri" pitchFamily="34" charset="0"/>
              </a:rPr>
              <a:t>	2. Particle refractive index varies from 1 to 2.</a:t>
            </a:r>
          </a:p>
          <a:p>
            <a:pPr algn="just">
              <a:spcAft>
                <a:spcPts val="1602"/>
              </a:spcAft>
            </a:pPr>
            <a:r>
              <a:rPr lang="en-GB" altLang="zh-CN" sz="1600" dirty="0">
                <a:ea typeface="宋体" pitchFamily="2" charset="-122"/>
                <a:cs typeface="Calibri" pitchFamily="34" charset="0"/>
              </a:rPr>
              <a:t>	3. Surrounding medium refractive index varies from 1 to 5.</a:t>
            </a:r>
          </a:p>
          <a:p>
            <a:pPr algn="just">
              <a:spcAft>
                <a:spcPts val="1602"/>
              </a:spcAft>
            </a:pPr>
            <a:r>
              <a:rPr lang="en-GB" altLang="zh-CN" sz="1600" dirty="0">
                <a:ea typeface="宋体" pitchFamily="2" charset="-122"/>
                <a:cs typeface="Calibri" pitchFamily="34" charset="0"/>
              </a:rPr>
              <a:t>	4. Radius of particle has a range of 10 nm to 1000 nm</a:t>
            </a:r>
          </a:p>
        </p:txBody>
      </p:sp>
    </p:spTree>
    <p:extLst>
      <p:ext uri="{BB962C8B-B14F-4D97-AF65-F5344CB8AC3E}">
        <p14:creationId xmlns:p14="http://schemas.microsoft.com/office/powerpoint/2010/main" val="220419402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3"/>
          <p:cNvSpPr/>
          <p:nvPr/>
        </p:nvSpPr>
        <p:spPr>
          <a:xfrm>
            <a:off x="295421" y="143209"/>
            <a:ext cx="11619914" cy="5908430"/>
          </a:xfrm>
          <a:prstGeom prst="roundRect">
            <a:avLst>
              <a:gd name="adj" fmla="val 3079"/>
            </a:avLst>
          </a:prstGeom>
          <a:noFill/>
          <a:ln w="38100">
            <a:solidFill>
              <a:schemeClr val="accent1">
                <a:shade val="50000"/>
                <a:alpha val="99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p:cNvSpPr txBox="1"/>
          <p:nvPr/>
        </p:nvSpPr>
        <p:spPr>
          <a:xfrm>
            <a:off x="4783015" y="6051639"/>
            <a:ext cx="6935372" cy="646331"/>
          </a:xfrm>
          <a:prstGeom prst="rect">
            <a:avLst/>
          </a:prstGeom>
          <a:noFill/>
        </p:spPr>
        <p:txBody>
          <a:bodyPr wrap="square" rtlCol="0">
            <a:spAutoFit/>
          </a:bodyPr>
          <a:lstStyle/>
          <a:p>
            <a:pPr algn="r"/>
            <a:r>
              <a:rPr lang="en-GB" b="1" dirty="0">
                <a:solidFill>
                  <a:schemeClr val="accent5">
                    <a:lumMod val="50000"/>
                  </a:schemeClr>
                </a:solidFill>
              </a:rPr>
              <a:t>2020 2nd International Conference on Sustainable Technologies</a:t>
            </a:r>
          </a:p>
          <a:p>
            <a:pPr algn="r"/>
            <a:r>
              <a:rPr lang="en-GB" b="1" dirty="0">
                <a:solidFill>
                  <a:schemeClr val="accent5">
                    <a:lumMod val="50000"/>
                  </a:schemeClr>
                </a:solidFill>
              </a:rPr>
              <a:t>for Industry 4.0 (STI), 19-20 December, Dhaka</a:t>
            </a:r>
            <a:endParaRPr lang="en-US" b="1" dirty="0">
              <a:solidFill>
                <a:schemeClr val="accent5">
                  <a:lumMod val="50000"/>
                </a:schemeClr>
              </a:solidFill>
            </a:endParaRPr>
          </a:p>
        </p:txBody>
      </p:sp>
      <p:sp>
        <p:nvSpPr>
          <p:cNvPr id="6" name="TextBox 5"/>
          <p:cNvSpPr txBox="1"/>
          <p:nvPr/>
        </p:nvSpPr>
        <p:spPr>
          <a:xfrm>
            <a:off x="507999" y="333829"/>
            <a:ext cx="5568952" cy="1077218"/>
          </a:xfrm>
          <a:prstGeom prst="rect">
            <a:avLst/>
          </a:prstGeom>
          <a:noFill/>
        </p:spPr>
        <p:txBody>
          <a:bodyPr wrap="square" rtlCol="0">
            <a:spAutoFit/>
          </a:bodyPr>
          <a:lstStyle/>
          <a:p>
            <a:r>
              <a:rPr lang="en-GB" sz="3200" b="1" i="1" dirty="0">
                <a:solidFill>
                  <a:schemeClr val="accent5">
                    <a:lumMod val="50000"/>
                  </a:schemeClr>
                </a:solidFill>
              </a:rPr>
              <a:t>MODELLING AND SIMULATION</a:t>
            </a:r>
          </a:p>
          <a:p>
            <a:r>
              <a:rPr lang="en-GB" sz="3200" b="1" i="1" dirty="0">
                <a:solidFill>
                  <a:schemeClr val="accent5">
                    <a:lumMod val="50000"/>
                  </a:schemeClr>
                </a:solidFill>
              </a:rPr>
              <a:t> </a:t>
            </a:r>
            <a:endParaRPr lang="en-US" sz="3200" b="1" i="1" dirty="0">
              <a:solidFill>
                <a:schemeClr val="accent5">
                  <a:lumMod val="50000"/>
                </a:schemeClr>
              </a:solidFill>
            </a:endParaRPr>
          </a:p>
        </p:txBody>
      </p:sp>
      <p:sp>
        <p:nvSpPr>
          <p:cNvPr id="8" name="Rectangle 7"/>
          <p:cNvSpPr/>
          <p:nvPr/>
        </p:nvSpPr>
        <p:spPr>
          <a:xfrm>
            <a:off x="3390918" y="5169127"/>
            <a:ext cx="5428919" cy="461665"/>
          </a:xfrm>
          <a:prstGeom prst="rect">
            <a:avLst/>
          </a:prstGeom>
        </p:spPr>
        <p:txBody>
          <a:bodyPr wrap="square">
            <a:spAutoFit/>
          </a:bodyPr>
          <a:lstStyle/>
          <a:p>
            <a:pPr algn="just">
              <a:spcAft>
                <a:spcPts val="1602"/>
              </a:spcAft>
            </a:pPr>
            <a:r>
              <a:rPr lang="en-GB" altLang="zh-CN" sz="2400" b="1" i="1" dirty="0">
                <a:solidFill>
                  <a:schemeClr val="accent5">
                    <a:lumMod val="50000"/>
                  </a:schemeClr>
                </a:solidFill>
                <a:ea typeface="宋体" pitchFamily="2" charset="-122"/>
                <a:cs typeface="Calibri" pitchFamily="34" charset="0"/>
              </a:rPr>
              <a:t>Fig. 1: </a:t>
            </a:r>
            <a:r>
              <a:rPr lang="en-GB" altLang="zh-CN" sz="2400" dirty="0" err="1">
                <a:ea typeface="宋体" pitchFamily="2" charset="-122"/>
                <a:cs typeface="Calibri" pitchFamily="34" charset="0"/>
              </a:rPr>
              <a:t>Nanosphere</a:t>
            </a:r>
            <a:r>
              <a:rPr lang="en-GB" altLang="zh-CN" sz="2400" dirty="0">
                <a:ea typeface="宋体" pitchFamily="2" charset="-122"/>
                <a:cs typeface="Calibri" pitchFamily="34" charset="0"/>
              </a:rPr>
              <a:t> optics lab simulator</a:t>
            </a:r>
          </a:p>
        </p:txBody>
      </p:sp>
      <p:pic>
        <p:nvPicPr>
          <p:cNvPr id="7" name="Picture 6" descr="C:\Users\Sufal\Desktop\project material\simulator.JPG"/>
          <p:cNvPicPr/>
          <p:nvPr/>
        </p:nvPicPr>
        <p:blipFill>
          <a:blip r:embed="rId2">
            <a:extLst>
              <a:ext uri="{28A0092B-C50C-407E-A947-70E740481C1C}">
                <a14:useLocalDpi xmlns:a14="http://schemas.microsoft.com/office/drawing/2010/main" val="0"/>
              </a:ext>
            </a:extLst>
          </a:blip>
          <a:srcRect/>
          <a:stretch>
            <a:fillRect/>
          </a:stretch>
        </p:blipFill>
        <p:spPr bwMode="auto">
          <a:xfrm>
            <a:off x="2243064" y="1411047"/>
            <a:ext cx="7667773" cy="3547657"/>
          </a:xfrm>
          <a:prstGeom prst="rect">
            <a:avLst/>
          </a:prstGeom>
          <a:noFill/>
          <a:ln>
            <a:noFill/>
          </a:ln>
        </p:spPr>
      </p:pic>
    </p:spTree>
    <p:extLst>
      <p:ext uri="{BB962C8B-B14F-4D97-AF65-F5344CB8AC3E}">
        <p14:creationId xmlns:p14="http://schemas.microsoft.com/office/powerpoint/2010/main" val="101258447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3"/>
          <p:cNvSpPr/>
          <p:nvPr/>
        </p:nvSpPr>
        <p:spPr>
          <a:xfrm>
            <a:off x="295421" y="143209"/>
            <a:ext cx="11619914" cy="5908430"/>
          </a:xfrm>
          <a:prstGeom prst="roundRect">
            <a:avLst>
              <a:gd name="adj" fmla="val 3079"/>
            </a:avLst>
          </a:prstGeom>
          <a:noFill/>
          <a:ln w="38100">
            <a:solidFill>
              <a:schemeClr val="accent1">
                <a:shade val="50000"/>
                <a:alpha val="99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p:cNvSpPr txBox="1"/>
          <p:nvPr/>
        </p:nvSpPr>
        <p:spPr>
          <a:xfrm>
            <a:off x="4783015" y="6051639"/>
            <a:ext cx="6935372" cy="646331"/>
          </a:xfrm>
          <a:prstGeom prst="rect">
            <a:avLst/>
          </a:prstGeom>
          <a:noFill/>
        </p:spPr>
        <p:txBody>
          <a:bodyPr wrap="square" rtlCol="0">
            <a:spAutoFit/>
          </a:bodyPr>
          <a:lstStyle/>
          <a:p>
            <a:pPr algn="r"/>
            <a:r>
              <a:rPr lang="en-GB" b="1" dirty="0">
                <a:solidFill>
                  <a:schemeClr val="accent5">
                    <a:lumMod val="50000"/>
                  </a:schemeClr>
                </a:solidFill>
              </a:rPr>
              <a:t>2020 2nd International Conference on Sustainable Technologies</a:t>
            </a:r>
          </a:p>
          <a:p>
            <a:pPr algn="r"/>
            <a:r>
              <a:rPr lang="en-GB" b="1" dirty="0">
                <a:solidFill>
                  <a:schemeClr val="accent5">
                    <a:lumMod val="50000"/>
                  </a:schemeClr>
                </a:solidFill>
              </a:rPr>
              <a:t>for Industry 4.0 (STI), 19-20 December, Dhaka</a:t>
            </a:r>
            <a:endParaRPr lang="en-US" b="1" dirty="0">
              <a:solidFill>
                <a:schemeClr val="accent5">
                  <a:lumMod val="50000"/>
                </a:schemeClr>
              </a:solidFill>
            </a:endParaRPr>
          </a:p>
        </p:txBody>
      </p:sp>
      <p:sp>
        <p:nvSpPr>
          <p:cNvPr id="6" name="TextBox 5"/>
          <p:cNvSpPr txBox="1"/>
          <p:nvPr/>
        </p:nvSpPr>
        <p:spPr>
          <a:xfrm>
            <a:off x="507998" y="333830"/>
            <a:ext cx="4275017" cy="584774"/>
          </a:xfrm>
          <a:prstGeom prst="rect">
            <a:avLst/>
          </a:prstGeom>
          <a:noFill/>
        </p:spPr>
        <p:txBody>
          <a:bodyPr wrap="square" rtlCol="0">
            <a:spAutoFit/>
          </a:bodyPr>
          <a:lstStyle/>
          <a:p>
            <a:r>
              <a:rPr lang="en-GB" sz="3200" b="1" i="1" dirty="0">
                <a:solidFill>
                  <a:schemeClr val="accent5">
                    <a:lumMod val="50000"/>
                  </a:schemeClr>
                </a:solidFill>
              </a:rPr>
              <a:t>RESULTS AND ANALYSIS</a:t>
            </a:r>
          </a:p>
        </p:txBody>
      </p:sp>
      <p:sp>
        <p:nvSpPr>
          <p:cNvPr id="8" name="Rectangle 7"/>
          <p:cNvSpPr/>
          <p:nvPr/>
        </p:nvSpPr>
        <p:spPr>
          <a:xfrm>
            <a:off x="815826" y="3927981"/>
            <a:ext cx="10579103" cy="2123658"/>
          </a:xfrm>
          <a:prstGeom prst="rect">
            <a:avLst/>
          </a:prstGeom>
        </p:spPr>
        <p:txBody>
          <a:bodyPr wrap="square">
            <a:spAutoFit/>
          </a:bodyPr>
          <a:lstStyle/>
          <a:p>
            <a:pPr algn="just">
              <a:spcAft>
                <a:spcPts val="1602"/>
              </a:spcAft>
            </a:pPr>
            <a:r>
              <a:rPr lang="en-GB" altLang="zh-CN" sz="2200" b="1" i="1" dirty="0">
                <a:solidFill>
                  <a:schemeClr val="accent5">
                    <a:lumMod val="50000"/>
                  </a:schemeClr>
                </a:solidFill>
                <a:ea typeface="宋体" pitchFamily="2" charset="-122"/>
                <a:cs typeface="Calibri" pitchFamily="34" charset="0"/>
              </a:rPr>
              <a:t>Fig. 2: </a:t>
            </a:r>
            <a:r>
              <a:rPr lang="en-GB" altLang="zh-CN" sz="2200" dirty="0">
                <a:ea typeface="宋体" pitchFamily="2" charset="-122"/>
                <a:cs typeface="Calibri" pitchFamily="34" charset="0"/>
              </a:rPr>
              <a:t>(a) Absorption efficiency maximum at 10 nm radius (11.418%) for </a:t>
            </a:r>
            <a:r>
              <a:rPr lang="en-GB" altLang="zh-CN" sz="2200" dirty="0" err="1">
                <a:ea typeface="宋体" pitchFamily="2" charset="-122"/>
                <a:cs typeface="Calibri" pitchFamily="34" charset="0"/>
              </a:rPr>
              <a:t>ZnO</a:t>
            </a:r>
            <a:r>
              <a:rPr lang="en-GB" altLang="zh-CN" sz="2200" dirty="0">
                <a:ea typeface="宋体" pitchFamily="2" charset="-122"/>
                <a:cs typeface="Calibri" pitchFamily="34" charset="0"/>
              </a:rPr>
              <a:t> medium, second peak found at 20nm (7.259%). First peak is found at 638.37nm and second one is found at 673.47nm wavelength. (b) Scattering efficiency maximum at radius 30nm (10.07%) for </a:t>
            </a:r>
            <a:r>
              <a:rPr lang="en-GB" altLang="zh-CN" sz="2200" dirty="0" err="1">
                <a:ea typeface="宋体" pitchFamily="2" charset="-122"/>
                <a:cs typeface="Calibri" pitchFamily="34" charset="0"/>
              </a:rPr>
              <a:t>ZnO</a:t>
            </a:r>
            <a:r>
              <a:rPr lang="en-GB" altLang="zh-CN" sz="2200" dirty="0">
                <a:ea typeface="宋体" pitchFamily="2" charset="-122"/>
                <a:cs typeface="Calibri" pitchFamily="34" charset="0"/>
              </a:rPr>
              <a:t> at 720.28nm wavelength and second highest is for 20nm radius (9.993%) at 673.47nm wavelength. With the increase of radius, the peak covering area of wavelength also increased.</a:t>
            </a:r>
          </a:p>
        </p:txBody>
      </p:sp>
      <p:grpSp>
        <p:nvGrpSpPr>
          <p:cNvPr id="7" name="Group 6"/>
          <p:cNvGrpSpPr/>
          <p:nvPr/>
        </p:nvGrpSpPr>
        <p:grpSpPr>
          <a:xfrm>
            <a:off x="815825" y="1109225"/>
            <a:ext cx="10579104" cy="2510275"/>
            <a:chOff x="4336406" y="7181177"/>
            <a:chExt cx="18434048" cy="7501007"/>
          </a:xfrm>
        </p:grpSpPr>
        <p:pic>
          <p:nvPicPr>
            <p:cNvPr id="9" name="Picture 8" descr="C:\Users\Sufal\Downloads\AbsorptionCrossSection (7).jpg"/>
            <p:cNvPicPr/>
            <p:nvPr/>
          </p:nvPicPr>
          <p:blipFill>
            <a:blip r:embed="rId2">
              <a:extLst>
                <a:ext uri="{28A0092B-C50C-407E-A947-70E740481C1C}">
                  <a14:useLocalDpi xmlns:a14="http://schemas.microsoft.com/office/drawing/2010/main" val="0"/>
                </a:ext>
              </a:extLst>
            </a:blip>
            <a:srcRect/>
            <a:stretch>
              <a:fillRect/>
            </a:stretch>
          </p:blipFill>
          <p:spPr bwMode="auto">
            <a:xfrm>
              <a:off x="4336406" y="7181177"/>
              <a:ext cx="9365988" cy="7501007"/>
            </a:xfrm>
            <a:prstGeom prst="rect">
              <a:avLst/>
            </a:prstGeom>
            <a:noFill/>
            <a:ln>
              <a:noFill/>
            </a:ln>
          </p:spPr>
        </p:pic>
        <p:pic>
          <p:nvPicPr>
            <p:cNvPr id="10" name="Picture 9" descr="C:\Users\Sufal\Downloads\ScatteringCrossSection (7).jpg"/>
            <p:cNvPicPr/>
            <p:nvPr/>
          </p:nvPicPr>
          <p:blipFill>
            <a:blip r:embed="rId3">
              <a:extLst>
                <a:ext uri="{28A0092B-C50C-407E-A947-70E740481C1C}">
                  <a14:useLocalDpi xmlns:a14="http://schemas.microsoft.com/office/drawing/2010/main" val="0"/>
                </a:ext>
              </a:extLst>
            </a:blip>
            <a:srcRect/>
            <a:stretch>
              <a:fillRect/>
            </a:stretch>
          </p:blipFill>
          <p:spPr bwMode="auto">
            <a:xfrm>
              <a:off x="13702394" y="7181177"/>
              <a:ext cx="9068060" cy="7501007"/>
            </a:xfrm>
            <a:prstGeom prst="rect">
              <a:avLst/>
            </a:prstGeom>
            <a:noFill/>
            <a:ln>
              <a:noFill/>
            </a:ln>
          </p:spPr>
        </p:pic>
      </p:grpSp>
    </p:spTree>
    <p:extLst>
      <p:ext uri="{BB962C8B-B14F-4D97-AF65-F5344CB8AC3E}">
        <p14:creationId xmlns:p14="http://schemas.microsoft.com/office/powerpoint/2010/main" val="103274541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3"/>
          <p:cNvSpPr/>
          <p:nvPr/>
        </p:nvSpPr>
        <p:spPr>
          <a:xfrm>
            <a:off x="295421" y="143209"/>
            <a:ext cx="11619914" cy="5908430"/>
          </a:xfrm>
          <a:prstGeom prst="roundRect">
            <a:avLst>
              <a:gd name="adj" fmla="val 3079"/>
            </a:avLst>
          </a:prstGeom>
          <a:noFill/>
          <a:ln w="38100">
            <a:solidFill>
              <a:schemeClr val="accent1">
                <a:shade val="50000"/>
                <a:alpha val="99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p:cNvSpPr txBox="1"/>
          <p:nvPr/>
        </p:nvSpPr>
        <p:spPr>
          <a:xfrm>
            <a:off x="4783015" y="6051639"/>
            <a:ext cx="6935372" cy="646331"/>
          </a:xfrm>
          <a:prstGeom prst="rect">
            <a:avLst/>
          </a:prstGeom>
          <a:noFill/>
        </p:spPr>
        <p:txBody>
          <a:bodyPr wrap="square" rtlCol="0">
            <a:spAutoFit/>
          </a:bodyPr>
          <a:lstStyle/>
          <a:p>
            <a:pPr algn="r"/>
            <a:r>
              <a:rPr lang="en-GB" b="1" dirty="0">
                <a:solidFill>
                  <a:schemeClr val="accent5">
                    <a:lumMod val="50000"/>
                  </a:schemeClr>
                </a:solidFill>
              </a:rPr>
              <a:t>2020 2nd International Conference on Sustainable Technologies</a:t>
            </a:r>
          </a:p>
          <a:p>
            <a:pPr algn="r"/>
            <a:r>
              <a:rPr lang="en-GB" b="1" dirty="0">
                <a:solidFill>
                  <a:schemeClr val="accent5">
                    <a:lumMod val="50000"/>
                  </a:schemeClr>
                </a:solidFill>
              </a:rPr>
              <a:t>for Industry 4.0 (STI), 19-20 December, Dhaka</a:t>
            </a:r>
            <a:endParaRPr lang="en-US" b="1" dirty="0">
              <a:solidFill>
                <a:schemeClr val="accent5">
                  <a:lumMod val="50000"/>
                </a:schemeClr>
              </a:solidFill>
            </a:endParaRPr>
          </a:p>
        </p:txBody>
      </p:sp>
      <p:sp>
        <p:nvSpPr>
          <p:cNvPr id="6" name="TextBox 5"/>
          <p:cNvSpPr txBox="1"/>
          <p:nvPr/>
        </p:nvSpPr>
        <p:spPr>
          <a:xfrm>
            <a:off x="507998" y="333830"/>
            <a:ext cx="4275017" cy="584774"/>
          </a:xfrm>
          <a:prstGeom prst="rect">
            <a:avLst/>
          </a:prstGeom>
          <a:noFill/>
        </p:spPr>
        <p:txBody>
          <a:bodyPr wrap="square" rtlCol="0">
            <a:spAutoFit/>
          </a:bodyPr>
          <a:lstStyle/>
          <a:p>
            <a:r>
              <a:rPr lang="en-GB" sz="3200" b="1" i="1" dirty="0">
                <a:solidFill>
                  <a:schemeClr val="accent5">
                    <a:lumMod val="50000"/>
                  </a:schemeClr>
                </a:solidFill>
              </a:rPr>
              <a:t>RESULTS AND ANALYSIS</a:t>
            </a:r>
          </a:p>
        </p:txBody>
      </p:sp>
      <p:sp>
        <p:nvSpPr>
          <p:cNvPr id="8" name="Rectangle 7"/>
          <p:cNvSpPr/>
          <p:nvPr/>
        </p:nvSpPr>
        <p:spPr>
          <a:xfrm>
            <a:off x="815826" y="3927981"/>
            <a:ext cx="10579103" cy="2123658"/>
          </a:xfrm>
          <a:prstGeom prst="rect">
            <a:avLst/>
          </a:prstGeom>
        </p:spPr>
        <p:txBody>
          <a:bodyPr wrap="square">
            <a:spAutoFit/>
          </a:bodyPr>
          <a:lstStyle/>
          <a:p>
            <a:pPr algn="just">
              <a:spcAft>
                <a:spcPts val="1602"/>
              </a:spcAft>
            </a:pPr>
            <a:r>
              <a:rPr lang="en-GB" altLang="zh-CN" sz="2200" b="1" i="1" dirty="0">
                <a:solidFill>
                  <a:schemeClr val="accent5">
                    <a:lumMod val="50000"/>
                  </a:schemeClr>
                </a:solidFill>
                <a:ea typeface="宋体" pitchFamily="2" charset="-122"/>
                <a:cs typeface="Calibri" pitchFamily="34" charset="0"/>
              </a:rPr>
              <a:t>Fig. 3: </a:t>
            </a:r>
            <a:r>
              <a:rPr lang="en-GB" altLang="zh-CN" sz="2200" dirty="0">
                <a:ea typeface="宋体" pitchFamily="2" charset="-122"/>
                <a:cs typeface="Calibri" pitchFamily="34" charset="0"/>
              </a:rPr>
              <a:t>(a) Absorption efficiency maximum at 10 nm radius (15.104%) for Si medium, second peak found at 20nm (5.479%). First peak is found at 813.89nm and second one is found at 884.1nm wavelength. (b) Scattering efficiency maximum at radius 20nm (11.383%) for Si at 878.25nm wavelength and second highest is for 30nm radius (9.295%) at 966.01nm wavelength. With the increase of radius, the peak covering area of wavelength also increased. After 30nm we get 2 peak for rest of the radius.</a:t>
            </a:r>
          </a:p>
        </p:txBody>
      </p:sp>
      <p:grpSp>
        <p:nvGrpSpPr>
          <p:cNvPr id="14" name="Group 13"/>
          <p:cNvGrpSpPr/>
          <p:nvPr/>
        </p:nvGrpSpPr>
        <p:grpSpPr>
          <a:xfrm>
            <a:off x="507998" y="1168155"/>
            <a:ext cx="10579105" cy="2510275"/>
            <a:chOff x="15124131" y="6837405"/>
            <a:chExt cx="14251824" cy="5990345"/>
          </a:xfrm>
        </p:grpSpPr>
        <p:pic>
          <p:nvPicPr>
            <p:cNvPr id="15" name="Picture 14" descr="C:\Users\Sufal\Downloads\AbsorptionCrossSection (8).jpg"/>
            <p:cNvPicPr/>
            <p:nvPr/>
          </p:nvPicPr>
          <p:blipFill>
            <a:blip r:embed="rId2">
              <a:extLst>
                <a:ext uri="{28A0092B-C50C-407E-A947-70E740481C1C}">
                  <a14:useLocalDpi xmlns:a14="http://schemas.microsoft.com/office/drawing/2010/main" val="0"/>
                </a:ext>
              </a:extLst>
            </a:blip>
            <a:srcRect/>
            <a:stretch>
              <a:fillRect/>
            </a:stretch>
          </p:blipFill>
          <p:spPr bwMode="auto">
            <a:xfrm>
              <a:off x="15124131" y="6837405"/>
              <a:ext cx="7190528" cy="5990345"/>
            </a:xfrm>
            <a:prstGeom prst="rect">
              <a:avLst/>
            </a:prstGeom>
            <a:noFill/>
            <a:ln>
              <a:noFill/>
            </a:ln>
          </p:spPr>
        </p:pic>
        <p:pic>
          <p:nvPicPr>
            <p:cNvPr id="16" name="Picture 15" descr="C:\Users\Sufal\Downloads\ScatteringCrossSection (8).jpg"/>
            <p:cNvPicPr/>
            <p:nvPr/>
          </p:nvPicPr>
          <p:blipFill>
            <a:blip r:embed="rId3">
              <a:extLst>
                <a:ext uri="{28A0092B-C50C-407E-A947-70E740481C1C}">
                  <a14:useLocalDpi xmlns:a14="http://schemas.microsoft.com/office/drawing/2010/main" val="0"/>
                </a:ext>
              </a:extLst>
            </a:blip>
            <a:srcRect/>
            <a:stretch>
              <a:fillRect/>
            </a:stretch>
          </p:blipFill>
          <p:spPr bwMode="auto">
            <a:xfrm>
              <a:off x="22415763" y="6837406"/>
              <a:ext cx="6960192" cy="5990344"/>
            </a:xfrm>
            <a:prstGeom prst="rect">
              <a:avLst/>
            </a:prstGeom>
            <a:noFill/>
            <a:ln>
              <a:noFill/>
            </a:ln>
          </p:spPr>
        </p:pic>
      </p:grpSp>
    </p:spTree>
    <p:extLst>
      <p:ext uri="{BB962C8B-B14F-4D97-AF65-F5344CB8AC3E}">
        <p14:creationId xmlns:p14="http://schemas.microsoft.com/office/powerpoint/2010/main" val="54754245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3"/>
          <p:cNvSpPr/>
          <p:nvPr/>
        </p:nvSpPr>
        <p:spPr>
          <a:xfrm>
            <a:off x="295421" y="143209"/>
            <a:ext cx="11619914" cy="5908430"/>
          </a:xfrm>
          <a:prstGeom prst="roundRect">
            <a:avLst>
              <a:gd name="adj" fmla="val 3079"/>
            </a:avLst>
          </a:prstGeom>
          <a:noFill/>
          <a:ln w="38100">
            <a:solidFill>
              <a:schemeClr val="accent1">
                <a:shade val="50000"/>
                <a:alpha val="99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p:cNvSpPr txBox="1"/>
          <p:nvPr/>
        </p:nvSpPr>
        <p:spPr>
          <a:xfrm>
            <a:off x="4783015" y="6051639"/>
            <a:ext cx="6935372" cy="646331"/>
          </a:xfrm>
          <a:prstGeom prst="rect">
            <a:avLst/>
          </a:prstGeom>
          <a:noFill/>
        </p:spPr>
        <p:txBody>
          <a:bodyPr wrap="square" rtlCol="0">
            <a:spAutoFit/>
          </a:bodyPr>
          <a:lstStyle/>
          <a:p>
            <a:pPr algn="r"/>
            <a:r>
              <a:rPr lang="en-GB" b="1" dirty="0">
                <a:solidFill>
                  <a:schemeClr val="accent5">
                    <a:lumMod val="50000"/>
                  </a:schemeClr>
                </a:solidFill>
              </a:rPr>
              <a:t>2020 2nd International Conference on Sustainable Technologies</a:t>
            </a:r>
          </a:p>
          <a:p>
            <a:pPr algn="r"/>
            <a:r>
              <a:rPr lang="en-GB" b="1" dirty="0">
                <a:solidFill>
                  <a:schemeClr val="accent5">
                    <a:lumMod val="50000"/>
                  </a:schemeClr>
                </a:solidFill>
              </a:rPr>
              <a:t>for Industry 4.0 (STI), 19-20 December, Dhaka</a:t>
            </a:r>
            <a:endParaRPr lang="en-US" b="1" dirty="0">
              <a:solidFill>
                <a:schemeClr val="accent5">
                  <a:lumMod val="50000"/>
                </a:schemeClr>
              </a:solidFill>
            </a:endParaRPr>
          </a:p>
        </p:txBody>
      </p:sp>
      <p:sp>
        <p:nvSpPr>
          <p:cNvPr id="6" name="TextBox 5"/>
          <p:cNvSpPr txBox="1"/>
          <p:nvPr/>
        </p:nvSpPr>
        <p:spPr>
          <a:xfrm>
            <a:off x="507998" y="333830"/>
            <a:ext cx="4275017" cy="584774"/>
          </a:xfrm>
          <a:prstGeom prst="rect">
            <a:avLst/>
          </a:prstGeom>
          <a:noFill/>
        </p:spPr>
        <p:txBody>
          <a:bodyPr wrap="square" rtlCol="0">
            <a:spAutoFit/>
          </a:bodyPr>
          <a:lstStyle/>
          <a:p>
            <a:r>
              <a:rPr lang="en-GB" sz="3200" b="1" i="1" dirty="0">
                <a:solidFill>
                  <a:schemeClr val="accent5">
                    <a:lumMod val="50000"/>
                  </a:schemeClr>
                </a:solidFill>
              </a:rPr>
              <a:t>RESULTS AND ANALYSIS</a:t>
            </a:r>
          </a:p>
        </p:txBody>
      </p:sp>
      <p:sp>
        <p:nvSpPr>
          <p:cNvPr id="8" name="Rectangle 7"/>
          <p:cNvSpPr/>
          <p:nvPr/>
        </p:nvSpPr>
        <p:spPr>
          <a:xfrm>
            <a:off x="815826" y="3927981"/>
            <a:ext cx="10579103" cy="2123658"/>
          </a:xfrm>
          <a:prstGeom prst="rect">
            <a:avLst/>
          </a:prstGeom>
        </p:spPr>
        <p:txBody>
          <a:bodyPr wrap="square">
            <a:spAutoFit/>
          </a:bodyPr>
          <a:lstStyle/>
          <a:p>
            <a:pPr algn="just">
              <a:spcAft>
                <a:spcPts val="1602"/>
              </a:spcAft>
            </a:pPr>
            <a:r>
              <a:rPr lang="en-GB" altLang="zh-CN" sz="2200" b="1" i="1" dirty="0">
                <a:solidFill>
                  <a:schemeClr val="accent5">
                    <a:lumMod val="50000"/>
                  </a:schemeClr>
                </a:solidFill>
                <a:ea typeface="宋体" pitchFamily="2" charset="-122"/>
                <a:cs typeface="Calibri" pitchFamily="34" charset="0"/>
              </a:rPr>
              <a:t>Fig. 4: </a:t>
            </a:r>
            <a:r>
              <a:rPr lang="en-GB" altLang="zh-CN" sz="2200" dirty="0">
                <a:ea typeface="宋体" pitchFamily="2" charset="-122"/>
                <a:cs typeface="Calibri" pitchFamily="34" charset="0"/>
              </a:rPr>
              <a:t>(a) Absorption efficiency maximum at 10 nm radius (15.204%) for GaAs medium, second peak found at 20nm (5.5203%). First peak is found at 907.51nm and second one is found at 995.27nm wavelength. (b) Scattering efficiency maximum at radius 20nm (10.303%) for GaAs at 989.42nm wavelength and second highest is for 30nm radius (8.804%) at 1088.88nm wavelength. With the increase of radius, the peak covering area of wavelength also increased. After 30nm we get 2 peak for rest of the radius.</a:t>
            </a:r>
          </a:p>
        </p:txBody>
      </p:sp>
      <p:grpSp>
        <p:nvGrpSpPr>
          <p:cNvPr id="11" name="Group 10"/>
          <p:cNvGrpSpPr/>
          <p:nvPr/>
        </p:nvGrpSpPr>
        <p:grpSpPr>
          <a:xfrm>
            <a:off x="815825" y="1109225"/>
            <a:ext cx="10579103" cy="2510275"/>
            <a:chOff x="15812099" y="13286497"/>
            <a:chExt cx="13403743" cy="5712908"/>
          </a:xfrm>
        </p:grpSpPr>
        <p:pic>
          <p:nvPicPr>
            <p:cNvPr id="12" name="Picture 11" descr="C:\Users\Sufal\Downloads\AbsorptionCrossSection (9).jpg"/>
            <p:cNvPicPr/>
            <p:nvPr/>
          </p:nvPicPr>
          <p:blipFill>
            <a:blip r:embed="rId2">
              <a:extLst>
                <a:ext uri="{28A0092B-C50C-407E-A947-70E740481C1C}">
                  <a14:useLocalDpi xmlns:a14="http://schemas.microsoft.com/office/drawing/2010/main" val="0"/>
                </a:ext>
              </a:extLst>
            </a:blip>
            <a:srcRect/>
            <a:stretch>
              <a:fillRect/>
            </a:stretch>
          </p:blipFill>
          <p:spPr bwMode="auto">
            <a:xfrm>
              <a:off x="15812099" y="13286498"/>
              <a:ext cx="6312340" cy="5674966"/>
            </a:xfrm>
            <a:prstGeom prst="rect">
              <a:avLst/>
            </a:prstGeom>
            <a:noFill/>
            <a:ln>
              <a:noFill/>
            </a:ln>
          </p:spPr>
        </p:pic>
        <p:pic>
          <p:nvPicPr>
            <p:cNvPr id="13" name="Picture 12" descr="C:\Users\Sufal\Downloads\ScatteringCrossSection (9).jpg"/>
            <p:cNvPicPr/>
            <p:nvPr/>
          </p:nvPicPr>
          <p:blipFill>
            <a:blip r:embed="rId3">
              <a:extLst>
                <a:ext uri="{28A0092B-C50C-407E-A947-70E740481C1C}">
                  <a14:useLocalDpi xmlns:a14="http://schemas.microsoft.com/office/drawing/2010/main" val="0"/>
                </a:ext>
              </a:extLst>
            </a:blip>
            <a:srcRect/>
            <a:stretch>
              <a:fillRect/>
            </a:stretch>
          </p:blipFill>
          <p:spPr bwMode="auto">
            <a:xfrm>
              <a:off x="22365211" y="13286497"/>
              <a:ext cx="6850631" cy="5712908"/>
            </a:xfrm>
            <a:prstGeom prst="rect">
              <a:avLst/>
            </a:prstGeom>
            <a:noFill/>
            <a:ln>
              <a:noFill/>
            </a:ln>
          </p:spPr>
        </p:pic>
      </p:grpSp>
    </p:spTree>
    <p:extLst>
      <p:ext uri="{BB962C8B-B14F-4D97-AF65-F5344CB8AC3E}">
        <p14:creationId xmlns:p14="http://schemas.microsoft.com/office/powerpoint/2010/main" val="304414175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3"/>
          <p:cNvSpPr/>
          <p:nvPr/>
        </p:nvSpPr>
        <p:spPr>
          <a:xfrm>
            <a:off x="295421" y="143209"/>
            <a:ext cx="11619914" cy="5908430"/>
          </a:xfrm>
          <a:prstGeom prst="roundRect">
            <a:avLst>
              <a:gd name="adj" fmla="val 3079"/>
            </a:avLst>
          </a:prstGeom>
          <a:noFill/>
          <a:ln w="38100">
            <a:solidFill>
              <a:schemeClr val="accent1">
                <a:shade val="50000"/>
                <a:alpha val="99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p:cNvSpPr txBox="1"/>
          <p:nvPr/>
        </p:nvSpPr>
        <p:spPr>
          <a:xfrm>
            <a:off x="4783015" y="6051639"/>
            <a:ext cx="6935372" cy="646331"/>
          </a:xfrm>
          <a:prstGeom prst="rect">
            <a:avLst/>
          </a:prstGeom>
          <a:noFill/>
        </p:spPr>
        <p:txBody>
          <a:bodyPr wrap="square" rtlCol="0">
            <a:spAutoFit/>
          </a:bodyPr>
          <a:lstStyle/>
          <a:p>
            <a:pPr algn="r"/>
            <a:r>
              <a:rPr lang="en-GB" b="1" dirty="0">
                <a:solidFill>
                  <a:schemeClr val="accent5">
                    <a:lumMod val="50000"/>
                  </a:schemeClr>
                </a:solidFill>
              </a:rPr>
              <a:t>2020 2nd International Conference on Sustainable Technologies</a:t>
            </a:r>
          </a:p>
          <a:p>
            <a:pPr algn="r"/>
            <a:r>
              <a:rPr lang="en-GB" b="1" dirty="0">
                <a:solidFill>
                  <a:schemeClr val="accent5">
                    <a:lumMod val="50000"/>
                  </a:schemeClr>
                </a:solidFill>
              </a:rPr>
              <a:t>for Industry 4.0 (STI), 19-20 December, Dhaka</a:t>
            </a:r>
            <a:endParaRPr lang="en-US" b="1" dirty="0">
              <a:solidFill>
                <a:schemeClr val="accent5">
                  <a:lumMod val="50000"/>
                </a:schemeClr>
              </a:solidFill>
            </a:endParaRPr>
          </a:p>
        </p:txBody>
      </p:sp>
      <p:sp>
        <p:nvSpPr>
          <p:cNvPr id="6" name="TextBox 5"/>
          <p:cNvSpPr txBox="1"/>
          <p:nvPr/>
        </p:nvSpPr>
        <p:spPr>
          <a:xfrm>
            <a:off x="507998" y="333830"/>
            <a:ext cx="4275017" cy="584774"/>
          </a:xfrm>
          <a:prstGeom prst="rect">
            <a:avLst/>
          </a:prstGeom>
          <a:noFill/>
        </p:spPr>
        <p:txBody>
          <a:bodyPr wrap="square" rtlCol="0">
            <a:spAutoFit/>
          </a:bodyPr>
          <a:lstStyle/>
          <a:p>
            <a:r>
              <a:rPr lang="en-GB" sz="3200" b="1" i="1" dirty="0">
                <a:solidFill>
                  <a:schemeClr val="accent5">
                    <a:lumMod val="50000"/>
                  </a:schemeClr>
                </a:solidFill>
              </a:rPr>
              <a:t>RESULTS AND ANALYSIS</a:t>
            </a:r>
          </a:p>
        </p:txBody>
      </p:sp>
      <p:sp>
        <p:nvSpPr>
          <p:cNvPr id="8" name="Rectangle 7"/>
          <p:cNvSpPr/>
          <p:nvPr/>
        </p:nvSpPr>
        <p:spPr>
          <a:xfrm>
            <a:off x="1903191" y="1489581"/>
            <a:ext cx="8404374" cy="430887"/>
          </a:xfrm>
          <a:prstGeom prst="rect">
            <a:avLst/>
          </a:prstGeom>
        </p:spPr>
        <p:txBody>
          <a:bodyPr wrap="square">
            <a:spAutoFit/>
          </a:bodyPr>
          <a:lstStyle/>
          <a:p>
            <a:pPr algn="just">
              <a:spcAft>
                <a:spcPts val="1602"/>
              </a:spcAft>
            </a:pPr>
            <a:r>
              <a:rPr lang="en-GB" altLang="zh-CN" sz="2200" b="1" i="1" dirty="0">
                <a:solidFill>
                  <a:schemeClr val="accent5">
                    <a:lumMod val="50000"/>
                  </a:schemeClr>
                </a:solidFill>
                <a:ea typeface="宋体" pitchFamily="2" charset="-122"/>
                <a:cs typeface="Calibri" pitchFamily="34" charset="0"/>
              </a:rPr>
              <a:t>Table 1. </a:t>
            </a:r>
            <a:r>
              <a:rPr lang="en-GB" altLang="zh-CN" sz="2200" dirty="0">
                <a:ea typeface="宋体" pitchFamily="2" charset="-122"/>
                <a:cs typeface="Calibri" pitchFamily="34" charset="0"/>
              </a:rPr>
              <a:t>Result analysis from graph for Au </a:t>
            </a:r>
            <a:r>
              <a:rPr lang="en-GB" altLang="zh-CN" sz="2200" dirty="0" err="1">
                <a:ea typeface="宋体" pitchFamily="2" charset="-122"/>
                <a:cs typeface="Calibri" pitchFamily="34" charset="0"/>
              </a:rPr>
              <a:t>nanosphere</a:t>
            </a:r>
            <a:endParaRPr lang="en-GB" altLang="zh-CN" sz="2200" dirty="0">
              <a:ea typeface="宋体" pitchFamily="2" charset="-122"/>
              <a:cs typeface="Calibri" pitchFamily="34" charset="0"/>
            </a:endParaRPr>
          </a:p>
        </p:txBody>
      </p:sp>
      <p:pic>
        <p:nvPicPr>
          <p:cNvPr id="2" name="Picture 1"/>
          <p:cNvPicPr>
            <a:picLocks noChangeAspect="1"/>
          </p:cNvPicPr>
          <p:nvPr/>
        </p:nvPicPr>
        <p:blipFill>
          <a:blip r:embed="rId2"/>
          <a:stretch>
            <a:fillRect/>
          </a:stretch>
        </p:blipFill>
        <p:spPr>
          <a:xfrm>
            <a:off x="885678" y="2264976"/>
            <a:ext cx="10439399" cy="3297624"/>
          </a:xfrm>
          <a:prstGeom prst="rect">
            <a:avLst/>
          </a:prstGeom>
        </p:spPr>
      </p:pic>
    </p:spTree>
    <p:extLst>
      <p:ext uri="{BB962C8B-B14F-4D97-AF65-F5344CB8AC3E}">
        <p14:creationId xmlns:p14="http://schemas.microsoft.com/office/powerpoint/2010/main" val="53688258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3"/>
          <p:cNvSpPr/>
          <p:nvPr/>
        </p:nvSpPr>
        <p:spPr>
          <a:xfrm>
            <a:off x="295421" y="143209"/>
            <a:ext cx="11619914" cy="5908430"/>
          </a:xfrm>
          <a:prstGeom prst="roundRect">
            <a:avLst>
              <a:gd name="adj" fmla="val 3079"/>
            </a:avLst>
          </a:prstGeom>
          <a:noFill/>
          <a:ln w="38100">
            <a:solidFill>
              <a:schemeClr val="accent1">
                <a:shade val="50000"/>
                <a:alpha val="99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p:cNvSpPr txBox="1"/>
          <p:nvPr/>
        </p:nvSpPr>
        <p:spPr>
          <a:xfrm>
            <a:off x="4783015" y="6051639"/>
            <a:ext cx="6935372" cy="646331"/>
          </a:xfrm>
          <a:prstGeom prst="rect">
            <a:avLst/>
          </a:prstGeom>
          <a:noFill/>
        </p:spPr>
        <p:txBody>
          <a:bodyPr wrap="square" rtlCol="0">
            <a:spAutoFit/>
          </a:bodyPr>
          <a:lstStyle/>
          <a:p>
            <a:pPr algn="r"/>
            <a:r>
              <a:rPr lang="en-GB" b="1" dirty="0">
                <a:solidFill>
                  <a:schemeClr val="accent5">
                    <a:lumMod val="50000"/>
                  </a:schemeClr>
                </a:solidFill>
              </a:rPr>
              <a:t>2020 2nd International Conference on Sustainable Technologies</a:t>
            </a:r>
          </a:p>
          <a:p>
            <a:pPr algn="r"/>
            <a:r>
              <a:rPr lang="en-GB" b="1" dirty="0">
                <a:solidFill>
                  <a:schemeClr val="accent5">
                    <a:lumMod val="50000"/>
                  </a:schemeClr>
                </a:solidFill>
              </a:rPr>
              <a:t>for Industry 4.0 (STI), 19-20 December, Dhaka</a:t>
            </a:r>
            <a:endParaRPr lang="en-US" b="1" dirty="0">
              <a:solidFill>
                <a:schemeClr val="accent5">
                  <a:lumMod val="50000"/>
                </a:schemeClr>
              </a:solidFill>
            </a:endParaRPr>
          </a:p>
        </p:txBody>
      </p:sp>
      <p:sp>
        <p:nvSpPr>
          <p:cNvPr id="6" name="TextBox 5"/>
          <p:cNvSpPr txBox="1"/>
          <p:nvPr/>
        </p:nvSpPr>
        <p:spPr>
          <a:xfrm>
            <a:off x="507998" y="333830"/>
            <a:ext cx="4275017" cy="584774"/>
          </a:xfrm>
          <a:prstGeom prst="rect">
            <a:avLst/>
          </a:prstGeom>
          <a:noFill/>
        </p:spPr>
        <p:txBody>
          <a:bodyPr wrap="square" rtlCol="0">
            <a:spAutoFit/>
          </a:bodyPr>
          <a:lstStyle/>
          <a:p>
            <a:r>
              <a:rPr lang="en-GB" sz="3200" b="1" i="1" dirty="0">
                <a:solidFill>
                  <a:schemeClr val="accent5">
                    <a:lumMod val="50000"/>
                  </a:schemeClr>
                </a:solidFill>
              </a:rPr>
              <a:t>CONCLUSIONS</a:t>
            </a:r>
          </a:p>
        </p:txBody>
      </p:sp>
      <p:sp>
        <p:nvSpPr>
          <p:cNvPr id="8" name="Rectangle 7"/>
          <p:cNvSpPr/>
          <p:nvPr/>
        </p:nvSpPr>
        <p:spPr>
          <a:xfrm>
            <a:off x="500183" y="1157992"/>
            <a:ext cx="11210389" cy="4893647"/>
          </a:xfrm>
          <a:prstGeom prst="rect">
            <a:avLst/>
          </a:prstGeom>
        </p:spPr>
        <p:txBody>
          <a:bodyPr wrap="square">
            <a:spAutoFit/>
          </a:bodyPr>
          <a:lstStyle/>
          <a:p>
            <a:pPr algn="just">
              <a:spcBef>
                <a:spcPct val="50000"/>
              </a:spcBef>
            </a:pPr>
            <a:r>
              <a:rPr lang="en-GB" altLang="zh-CN" sz="2400" dirty="0">
                <a:ea typeface="宋体" pitchFamily="2" charset="-122"/>
                <a:cs typeface="Calibri" pitchFamily="34" charset="0"/>
              </a:rPr>
              <a:t>With the increase of medium refractive index absorption efficiency increased another noticeable thing is that for maximum absorption value the radius of </a:t>
            </a:r>
            <a:r>
              <a:rPr lang="en-GB" altLang="zh-CN" sz="2400" dirty="0" err="1">
                <a:ea typeface="宋体" pitchFamily="2" charset="-122"/>
                <a:cs typeface="Calibri" pitchFamily="34" charset="0"/>
              </a:rPr>
              <a:t>nanosphere</a:t>
            </a:r>
            <a:r>
              <a:rPr lang="en-GB" altLang="zh-CN" sz="2400" dirty="0">
                <a:ea typeface="宋体" pitchFamily="2" charset="-122"/>
                <a:cs typeface="Calibri" pitchFamily="34" charset="0"/>
              </a:rPr>
              <a:t> also decrease. For scattering efficiency same thing is observed, that scattering efficiency increases with the increase of medium refractive index but for GaAs, scattering efficiency slightly decrease. Radius of </a:t>
            </a:r>
            <a:r>
              <a:rPr lang="en-GB" altLang="zh-CN" sz="2400" dirty="0" err="1">
                <a:ea typeface="宋体" pitchFamily="2" charset="-122"/>
                <a:cs typeface="Calibri" pitchFamily="34" charset="0"/>
              </a:rPr>
              <a:t>nanosphere</a:t>
            </a:r>
            <a:r>
              <a:rPr lang="en-GB" altLang="zh-CN" sz="2400" dirty="0">
                <a:ea typeface="宋体" pitchFamily="2" charset="-122"/>
                <a:cs typeface="Calibri" pitchFamily="34" charset="0"/>
              </a:rPr>
              <a:t> decrease with the increase of medium refractive index. For every medium refractive index, we got peak at different wavelength, both case for absorption and scattering efficiency it is clear that maximum value shifted from left to right of wavelength with the increase of medium refractive index. For gold </a:t>
            </a:r>
            <a:r>
              <a:rPr lang="en-GB" altLang="zh-CN" sz="2400" dirty="0" err="1">
                <a:ea typeface="宋体" pitchFamily="2" charset="-122"/>
                <a:cs typeface="Calibri" pitchFamily="34" charset="0"/>
              </a:rPr>
              <a:t>nanosphere</a:t>
            </a:r>
            <a:r>
              <a:rPr lang="en-GB" altLang="zh-CN" sz="2400" dirty="0">
                <a:ea typeface="宋体" pitchFamily="2" charset="-122"/>
                <a:cs typeface="Calibri" pitchFamily="34" charset="0"/>
              </a:rPr>
              <a:t> the absorption efficiency is found to be 15.204% for 10 nm radius when the refractive index is 3.927 and the scattering efficiency is found to be 11.383% for 20 nm radius when the refractive index is 3.42. These optical properties have a vast field of application. Absorption and scattering efficiency can be enhanced by using </a:t>
            </a:r>
            <a:r>
              <a:rPr lang="en-GB" altLang="zh-CN" sz="2400" dirty="0" err="1">
                <a:ea typeface="宋体" pitchFamily="2" charset="-122"/>
                <a:cs typeface="Calibri" pitchFamily="34" charset="0"/>
              </a:rPr>
              <a:t>nanospheres</a:t>
            </a:r>
            <a:r>
              <a:rPr lang="en-GB" altLang="zh-CN" sz="2400" dirty="0">
                <a:ea typeface="宋体" pitchFamily="2" charset="-122"/>
                <a:cs typeface="Calibri" pitchFamily="34" charset="0"/>
              </a:rPr>
              <a:t>. These </a:t>
            </a:r>
            <a:r>
              <a:rPr lang="en-GB" altLang="zh-CN" sz="2400" dirty="0" err="1">
                <a:ea typeface="宋体" pitchFamily="2" charset="-122"/>
                <a:cs typeface="Calibri" pitchFamily="34" charset="0"/>
              </a:rPr>
              <a:t>nanosphere</a:t>
            </a:r>
            <a:r>
              <a:rPr lang="en-GB" altLang="zh-CN" sz="2400" dirty="0">
                <a:ea typeface="宋体" pitchFamily="2" charset="-122"/>
                <a:cs typeface="Calibri" pitchFamily="34" charset="0"/>
              </a:rPr>
              <a:t> in solar cell, photodetector, sensors and a wide range use in biomedical field.</a:t>
            </a:r>
            <a:endParaRPr lang="en-GB" altLang="zh-CN" sz="2000" dirty="0">
              <a:ea typeface="宋体" pitchFamily="2" charset="-122"/>
              <a:cs typeface="Calibri" pitchFamily="34" charset="0"/>
            </a:endParaRPr>
          </a:p>
        </p:txBody>
      </p:sp>
    </p:spTree>
    <p:extLst>
      <p:ext uri="{BB962C8B-B14F-4D97-AF65-F5344CB8AC3E}">
        <p14:creationId xmlns:p14="http://schemas.microsoft.com/office/powerpoint/2010/main" val="186479521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3"/>
          <p:cNvSpPr/>
          <p:nvPr/>
        </p:nvSpPr>
        <p:spPr>
          <a:xfrm>
            <a:off x="295421" y="143209"/>
            <a:ext cx="11619914" cy="5908430"/>
          </a:xfrm>
          <a:prstGeom prst="roundRect">
            <a:avLst>
              <a:gd name="adj" fmla="val 3079"/>
            </a:avLst>
          </a:prstGeom>
          <a:noFill/>
          <a:ln w="38100">
            <a:solidFill>
              <a:schemeClr val="accent1">
                <a:shade val="50000"/>
                <a:alpha val="99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p:cNvSpPr txBox="1"/>
          <p:nvPr/>
        </p:nvSpPr>
        <p:spPr>
          <a:xfrm>
            <a:off x="4783015" y="6051639"/>
            <a:ext cx="6935372" cy="646331"/>
          </a:xfrm>
          <a:prstGeom prst="rect">
            <a:avLst/>
          </a:prstGeom>
          <a:noFill/>
        </p:spPr>
        <p:txBody>
          <a:bodyPr wrap="square" rtlCol="0">
            <a:spAutoFit/>
          </a:bodyPr>
          <a:lstStyle/>
          <a:p>
            <a:pPr algn="r"/>
            <a:r>
              <a:rPr lang="en-GB" b="1" dirty="0">
                <a:solidFill>
                  <a:schemeClr val="accent5">
                    <a:lumMod val="50000"/>
                  </a:schemeClr>
                </a:solidFill>
              </a:rPr>
              <a:t>2020 2nd International Conference on Sustainable Technologies</a:t>
            </a:r>
          </a:p>
          <a:p>
            <a:pPr algn="r"/>
            <a:r>
              <a:rPr lang="en-GB" b="1" dirty="0">
                <a:solidFill>
                  <a:schemeClr val="accent5">
                    <a:lumMod val="50000"/>
                  </a:schemeClr>
                </a:solidFill>
              </a:rPr>
              <a:t>for Industry 4.0 (STI), 19-20 December, Dhaka</a:t>
            </a:r>
            <a:endParaRPr lang="en-US" b="1" dirty="0">
              <a:solidFill>
                <a:schemeClr val="accent5">
                  <a:lumMod val="50000"/>
                </a:schemeClr>
              </a:solidFill>
            </a:endParaRPr>
          </a:p>
        </p:txBody>
      </p:sp>
      <p:sp>
        <p:nvSpPr>
          <p:cNvPr id="6" name="TextBox 5"/>
          <p:cNvSpPr txBox="1"/>
          <p:nvPr/>
        </p:nvSpPr>
        <p:spPr>
          <a:xfrm>
            <a:off x="507998" y="333830"/>
            <a:ext cx="4275017" cy="584774"/>
          </a:xfrm>
          <a:prstGeom prst="rect">
            <a:avLst/>
          </a:prstGeom>
          <a:noFill/>
        </p:spPr>
        <p:txBody>
          <a:bodyPr wrap="square" rtlCol="0">
            <a:spAutoFit/>
          </a:bodyPr>
          <a:lstStyle/>
          <a:p>
            <a:r>
              <a:rPr lang="en-GB" sz="3200" b="1" i="1" dirty="0">
                <a:solidFill>
                  <a:schemeClr val="accent5">
                    <a:lumMod val="50000"/>
                  </a:schemeClr>
                </a:solidFill>
              </a:rPr>
              <a:t>REFERENCES</a:t>
            </a:r>
          </a:p>
        </p:txBody>
      </p:sp>
      <p:sp>
        <p:nvSpPr>
          <p:cNvPr id="8" name="Rectangle 7"/>
          <p:cNvSpPr/>
          <p:nvPr/>
        </p:nvSpPr>
        <p:spPr>
          <a:xfrm>
            <a:off x="500183" y="1157992"/>
            <a:ext cx="11210389" cy="4862870"/>
          </a:xfrm>
          <a:prstGeom prst="rect">
            <a:avLst/>
          </a:prstGeom>
        </p:spPr>
        <p:txBody>
          <a:bodyPr wrap="square">
            <a:spAutoFit/>
          </a:bodyPr>
          <a:lstStyle/>
          <a:p>
            <a:pPr algn="just">
              <a:spcBef>
                <a:spcPct val="50000"/>
              </a:spcBef>
            </a:pPr>
            <a:r>
              <a:rPr lang="en-GB" altLang="zh-CN" sz="2000" dirty="0">
                <a:ea typeface="宋体" pitchFamily="2" charset="-122"/>
                <a:cs typeface="Calibri" pitchFamily="34" charset="0"/>
              </a:rPr>
              <a:t>[1] Stephenson, C.; </a:t>
            </a:r>
            <a:r>
              <a:rPr lang="en-GB" altLang="zh-CN" sz="2000" dirty="0" err="1">
                <a:ea typeface="宋体" pitchFamily="2" charset="-122"/>
                <a:cs typeface="Calibri" pitchFamily="34" charset="0"/>
              </a:rPr>
              <a:t>Hubler</a:t>
            </a:r>
            <a:r>
              <a:rPr lang="en-GB" altLang="zh-CN" sz="2000" dirty="0">
                <a:ea typeface="宋体" pitchFamily="2" charset="-122"/>
                <a:cs typeface="Calibri" pitchFamily="34" charset="0"/>
              </a:rPr>
              <a:t>, Stability and conductivity of self-assembled wires in a transverse electric field. Scientific Reports Vol. 5, 15044 (2015)</a:t>
            </a:r>
          </a:p>
          <a:p>
            <a:pPr algn="just">
              <a:spcBef>
                <a:spcPct val="50000"/>
              </a:spcBef>
            </a:pPr>
            <a:r>
              <a:rPr lang="en-GB" altLang="zh-CN" sz="2000" dirty="0">
                <a:ea typeface="宋体" pitchFamily="2" charset="-122"/>
                <a:cs typeface="Calibri" pitchFamily="34" charset="0"/>
              </a:rPr>
              <a:t>[2] H. Xu, E.J. </a:t>
            </a:r>
            <a:r>
              <a:rPr lang="en-GB" altLang="zh-CN" sz="2000" dirty="0" err="1">
                <a:ea typeface="宋体" pitchFamily="2" charset="-122"/>
                <a:cs typeface="Calibri" pitchFamily="34" charset="0"/>
              </a:rPr>
              <a:t>Bjerneld</a:t>
            </a:r>
            <a:r>
              <a:rPr lang="en-GB" altLang="zh-CN" sz="2000" dirty="0">
                <a:ea typeface="宋体" pitchFamily="2" charset="-122"/>
                <a:cs typeface="Calibri" pitchFamily="34" charset="0"/>
              </a:rPr>
              <a:t>, M. </a:t>
            </a:r>
            <a:r>
              <a:rPr lang="en-GB" altLang="zh-CN" sz="2000" dirty="0" err="1">
                <a:ea typeface="宋体" pitchFamily="2" charset="-122"/>
                <a:cs typeface="Calibri" pitchFamily="34" charset="0"/>
              </a:rPr>
              <a:t>Kall</a:t>
            </a:r>
            <a:r>
              <a:rPr lang="en-GB" altLang="zh-CN" sz="2000" dirty="0">
                <a:ea typeface="宋体" pitchFamily="2" charset="-122"/>
                <a:cs typeface="Calibri" pitchFamily="34" charset="0"/>
              </a:rPr>
              <a:t>, L. </a:t>
            </a:r>
            <a:r>
              <a:rPr lang="en-GB" altLang="zh-CN" sz="2000" dirty="0" err="1">
                <a:ea typeface="宋体" pitchFamily="2" charset="-122"/>
                <a:cs typeface="Calibri" pitchFamily="34" charset="0"/>
              </a:rPr>
              <a:t>Borjesson</a:t>
            </a:r>
            <a:r>
              <a:rPr lang="en-GB" altLang="zh-CN" sz="2000" dirty="0">
                <a:ea typeface="宋体" pitchFamily="2" charset="-122"/>
                <a:cs typeface="Calibri" pitchFamily="34" charset="0"/>
              </a:rPr>
              <a:t>. </a:t>
            </a:r>
            <a:r>
              <a:rPr lang="en-GB" altLang="zh-CN" sz="2000" dirty="0" err="1">
                <a:ea typeface="宋体" pitchFamily="2" charset="-122"/>
                <a:cs typeface="Calibri" pitchFamily="34" charset="0"/>
              </a:rPr>
              <a:t>Spectrocopy</a:t>
            </a:r>
            <a:r>
              <a:rPr lang="en-GB" altLang="zh-CN" sz="2000" dirty="0">
                <a:ea typeface="宋体" pitchFamily="2" charset="-122"/>
                <a:cs typeface="Calibri" pitchFamily="34" charset="0"/>
              </a:rPr>
              <a:t> of Single </a:t>
            </a:r>
            <a:r>
              <a:rPr lang="en-GB" altLang="zh-CN" sz="2000" dirty="0" err="1">
                <a:ea typeface="宋体" pitchFamily="2" charset="-122"/>
                <a:cs typeface="Calibri" pitchFamily="34" charset="0"/>
              </a:rPr>
              <a:t>Hemoglobin</a:t>
            </a:r>
            <a:r>
              <a:rPr lang="en-GB" altLang="zh-CN" sz="2000" dirty="0">
                <a:ea typeface="宋体" pitchFamily="2" charset="-122"/>
                <a:cs typeface="Calibri" pitchFamily="34" charset="0"/>
              </a:rPr>
              <a:t> Molecules by Surface Raman Scattering. Phys. Rev. Lett. 83, 4357 (1999)</a:t>
            </a:r>
          </a:p>
          <a:p>
            <a:pPr algn="just">
              <a:spcBef>
                <a:spcPct val="50000"/>
              </a:spcBef>
            </a:pPr>
            <a:r>
              <a:rPr lang="en-GB" altLang="zh-CN" sz="2000" dirty="0">
                <a:ea typeface="宋体" pitchFamily="2" charset="-122"/>
                <a:cs typeface="Calibri" pitchFamily="34" charset="0"/>
              </a:rPr>
              <a:t>[3] Alyssa B. </a:t>
            </a:r>
            <a:r>
              <a:rPr lang="en-GB" altLang="zh-CN" sz="2000" dirty="0" err="1">
                <a:ea typeface="宋体" pitchFamily="2" charset="-122"/>
                <a:cs typeface="Calibri" pitchFamily="34" charset="0"/>
              </a:rPr>
              <a:t>Zrimesk</a:t>
            </a:r>
            <a:r>
              <a:rPr lang="en-GB" altLang="zh-CN" sz="2000" dirty="0">
                <a:ea typeface="宋体" pitchFamily="2" charset="-122"/>
                <a:cs typeface="Calibri" pitchFamily="34" charset="0"/>
              </a:rPr>
              <a:t>, Nolan L. Wong, and Richard p. Van Duyne. Single Molecule Surface Enhancement Spectroscopy: A critical Analysis of the </a:t>
            </a:r>
            <a:r>
              <a:rPr lang="en-GB" altLang="zh-CN" sz="2000" dirty="0" err="1">
                <a:ea typeface="宋体" pitchFamily="2" charset="-122"/>
                <a:cs typeface="Calibri" pitchFamily="34" charset="0"/>
              </a:rPr>
              <a:t>Bianalyte</a:t>
            </a:r>
            <a:r>
              <a:rPr lang="en-GB" altLang="zh-CN" sz="2000" dirty="0">
                <a:ea typeface="宋体" pitchFamily="2" charset="-122"/>
                <a:cs typeface="Calibri" pitchFamily="34" charset="0"/>
              </a:rPr>
              <a:t> versus </a:t>
            </a:r>
            <a:r>
              <a:rPr lang="en-GB" altLang="zh-CN" sz="2000" dirty="0" err="1">
                <a:ea typeface="宋体" pitchFamily="2" charset="-122"/>
                <a:cs typeface="Calibri" pitchFamily="34" charset="0"/>
              </a:rPr>
              <a:t>Isotopologue</a:t>
            </a:r>
            <a:r>
              <a:rPr lang="en-GB" altLang="zh-CN" sz="2000" dirty="0">
                <a:ea typeface="宋体" pitchFamily="2" charset="-122"/>
                <a:cs typeface="Calibri" pitchFamily="34" charset="0"/>
              </a:rPr>
              <a:t>. Journal of Physical Chemistry C 120 (9), 5133-5142 (2016)</a:t>
            </a:r>
          </a:p>
          <a:p>
            <a:pPr algn="just">
              <a:spcBef>
                <a:spcPct val="50000"/>
              </a:spcBef>
            </a:pPr>
            <a:r>
              <a:rPr lang="en-GB" altLang="zh-CN" sz="2000" dirty="0">
                <a:ea typeface="宋体" pitchFamily="2" charset="-122"/>
                <a:cs typeface="Calibri" pitchFamily="34" charset="0"/>
              </a:rPr>
              <a:t>[4] Cecilia </a:t>
            </a:r>
            <a:r>
              <a:rPr lang="en-GB" altLang="zh-CN" sz="2000" dirty="0" err="1">
                <a:ea typeface="宋体" pitchFamily="2" charset="-122"/>
                <a:cs typeface="Calibri" pitchFamily="34" charset="0"/>
              </a:rPr>
              <a:t>Noguez</a:t>
            </a:r>
            <a:r>
              <a:rPr lang="en-GB" altLang="zh-CN" sz="2000" dirty="0">
                <a:ea typeface="宋体" pitchFamily="2" charset="-122"/>
                <a:cs typeface="Calibri" pitchFamily="34" charset="0"/>
              </a:rPr>
              <a:t>. Surface Plasmon on Metal Nanoparticles: The Influence of Shape and Physical Environment. Journal of Physical Chemistry C 111 (10), 3806-3819 (2007)</a:t>
            </a:r>
          </a:p>
          <a:p>
            <a:pPr algn="just">
              <a:spcBef>
                <a:spcPct val="50000"/>
              </a:spcBef>
            </a:pPr>
            <a:r>
              <a:rPr lang="en-GB" altLang="zh-CN" sz="2000" dirty="0">
                <a:ea typeface="宋体" pitchFamily="2" charset="-122"/>
                <a:cs typeface="Calibri" pitchFamily="34" charset="0"/>
              </a:rPr>
              <a:t>[5] N.L. </a:t>
            </a:r>
            <a:r>
              <a:rPr lang="en-GB" altLang="zh-CN" sz="2000" dirty="0" err="1">
                <a:ea typeface="宋体" pitchFamily="2" charset="-122"/>
                <a:cs typeface="Calibri" pitchFamily="34" charset="0"/>
              </a:rPr>
              <a:t>Dmitruk</a:t>
            </a:r>
            <a:r>
              <a:rPr lang="en-GB" altLang="zh-CN" sz="2000" dirty="0">
                <a:ea typeface="宋体" pitchFamily="2" charset="-122"/>
                <a:cs typeface="Calibri" pitchFamily="34" charset="0"/>
              </a:rPr>
              <a:t>, S.Z. </a:t>
            </a:r>
            <a:r>
              <a:rPr lang="en-GB" altLang="zh-CN" sz="2000" dirty="0" err="1">
                <a:ea typeface="宋体" pitchFamily="2" charset="-122"/>
                <a:cs typeface="Calibri" pitchFamily="34" charset="0"/>
              </a:rPr>
              <a:t>Malynych</a:t>
            </a:r>
            <a:r>
              <a:rPr lang="en-GB" altLang="zh-CN" sz="2000" dirty="0">
                <a:ea typeface="宋体" pitchFamily="2" charset="-122"/>
                <a:cs typeface="Calibri" pitchFamily="34" charset="0"/>
              </a:rPr>
              <a:t>, I.E. </a:t>
            </a:r>
            <a:r>
              <a:rPr lang="en-GB" altLang="zh-CN" sz="2000" dirty="0" err="1">
                <a:ea typeface="宋体" pitchFamily="2" charset="-122"/>
                <a:cs typeface="Calibri" pitchFamily="34" charset="0"/>
              </a:rPr>
              <a:t>Moroz</a:t>
            </a:r>
            <a:r>
              <a:rPr lang="en-GB" altLang="zh-CN" sz="2000" dirty="0">
                <a:ea typeface="宋体" pitchFamily="2" charset="-122"/>
                <a:cs typeface="Calibri" pitchFamily="34" charset="0"/>
              </a:rPr>
              <a:t>, </a:t>
            </a:r>
            <a:r>
              <a:rPr lang="en-GB" altLang="zh-CN" sz="2000" dirty="0" err="1">
                <a:ea typeface="宋体" pitchFamily="2" charset="-122"/>
                <a:cs typeface="Calibri" pitchFamily="34" charset="0"/>
              </a:rPr>
              <a:t>V.Yu</a:t>
            </a:r>
            <a:r>
              <a:rPr lang="en-GB" altLang="zh-CN" sz="2000" dirty="0">
                <a:ea typeface="宋体" pitchFamily="2" charset="-122"/>
                <a:cs typeface="Calibri" pitchFamily="34" charset="0"/>
              </a:rPr>
              <a:t>. </a:t>
            </a:r>
            <a:r>
              <a:rPr lang="en-GB" altLang="zh-CN" sz="2000" dirty="0" err="1">
                <a:ea typeface="宋体" pitchFamily="2" charset="-122"/>
                <a:cs typeface="Calibri" pitchFamily="34" charset="0"/>
              </a:rPr>
              <a:t>Kurlyak</a:t>
            </a:r>
            <a:r>
              <a:rPr lang="en-GB" altLang="zh-CN" sz="2000" dirty="0">
                <a:ea typeface="宋体" pitchFamily="2" charset="-122"/>
                <a:cs typeface="Calibri" pitchFamily="34" charset="0"/>
              </a:rPr>
              <a:t>, Optical Efficiency of Ag and Au Nanoparticles. Semiconductor Physics, Quantum Electronics &amp; Optoelectronics. V. 13, N 4. P369-373 (2010)</a:t>
            </a:r>
          </a:p>
          <a:p>
            <a:pPr algn="just">
              <a:spcBef>
                <a:spcPct val="50000"/>
              </a:spcBef>
            </a:pPr>
            <a:r>
              <a:rPr lang="en-GB" altLang="zh-CN" sz="2000" dirty="0">
                <a:ea typeface="宋体" pitchFamily="2" charset="-122"/>
                <a:cs typeface="Calibri" pitchFamily="34" charset="0"/>
              </a:rPr>
              <a:t>[6] </a:t>
            </a:r>
            <a:r>
              <a:rPr lang="en-GB" altLang="zh-CN" sz="2000" dirty="0" err="1">
                <a:ea typeface="宋体" pitchFamily="2" charset="-122"/>
                <a:cs typeface="Calibri" pitchFamily="34" charset="0"/>
              </a:rPr>
              <a:t>Qiang</a:t>
            </a:r>
            <a:r>
              <a:rPr lang="en-GB" altLang="zh-CN" sz="2000" dirty="0">
                <a:ea typeface="宋体" pitchFamily="2" charset="-122"/>
                <a:cs typeface="Calibri" pitchFamily="34" charset="0"/>
              </a:rPr>
              <a:t> Fu and </a:t>
            </a:r>
            <a:r>
              <a:rPr lang="en-GB" altLang="zh-CN" sz="2000" dirty="0" err="1">
                <a:ea typeface="宋体" pitchFamily="2" charset="-122"/>
                <a:cs typeface="Calibri" pitchFamily="34" charset="0"/>
              </a:rPr>
              <a:t>Wenbo</a:t>
            </a:r>
            <a:r>
              <a:rPr lang="en-GB" altLang="zh-CN" sz="2000" dirty="0">
                <a:ea typeface="宋体" pitchFamily="2" charset="-122"/>
                <a:cs typeface="Calibri" pitchFamily="34" charset="0"/>
              </a:rPr>
              <a:t> Sun. Mie Theory for Light Scattering by a Spherical Particle in an Absorbing Medium. Appl. Opt. 40, 1354-1361 (2001)</a:t>
            </a:r>
          </a:p>
        </p:txBody>
      </p:sp>
    </p:spTree>
    <p:extLst>
      <p:ext uri="{BB962C8B-B14F-4D97-AF65-F5344CB8AC3E}">
        <p14:creationId xmlns:p14="http://schemas.microsoft.com/office/powerpoint/2010/main" val="292398584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3"/>
          <p:cNvSpPr/>
          <p:nvPr/>
        </p:nvSpPr>
        <p:spPr>
          <a:xfrm>
            <a:off x="295421" y="143209"/>
            <a:ext cx="11619914" cy="5908430"/>
          </a:xfrm>
          <a:prstGeom prst="roundRect">
            <a:avLst>
              <a:gd name="adj" fmla="val 3079"/>
            </a:avLst>
          </a:prstGeom>
          <a:noFill/>
          <a:ln w="38100">
            <a:solidFill>
              <a:schemeClr val="accent1">
                <a:shade val="50000"/>
                <a:alpha val="99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p:cNvSpPr txBox="1"/>
          <p:nvPr/>
        </p:nvSpPr>
        <p:spPr>
          <a:xfrm>
            <a:off x="4783015" y="6051639"/>
            <a:ext cx="6935372" cy="646331"/>
          </a:xfrm>
          <a:prstGeom prst="rect">
            <a:avLst/>
          </a:prstGeom>
          <a:noFill/>
        </p:spPr>
        <p:txBody>
          <a:bodyPr wrap="square" rtlCol="0">
            <a:spAutoFit/>
          </a:bodyPr>
          <a:lstStyle/>
          <a:p>
            <a:pPr algn="r"/>
            <a:r>
              <a:rPr lang="en-GB" b="1" dirty="0">
                <a:solidFill>
                  <a:schemeClr val="accent5">
                    <a:lumMod val="50000"/>
                  </a:schemeClr>
                </a:solidFill>
              </a:rPr>
              <a:t>2020 2nd International Conference on Sustainable Technologies</a:t>
            </a:r>
          </a:p>
          <a:p>
            <a:pPr algn="r"/>
            <a:r>
              <a:rPr lang="en-GB" b="1" dirty="0">
                <a:solidFill>
                  <a:schemeClr val="accent5">
                    <a:lumMod val="50000"/>
                  </a:schemeClr>
                </a:solidFill>
              </a:rPr>
              <a:t>for Industry 4.0 (STI), 19-20 December, Dhaka</a:t>
            </a:r>
            <a:endParaRPr lang="en-US" b="1" dirty="0">
              <a:solidFill>
                <a:schemeClr val="accent5">
                  <a:lumMod val="50000"/>
                </a:schemeClr>
              </a:solidFill>
            </a:endParaRPr>
          </a:p>
        </p:txBody>
      </p:sp>
      <p:sp>
        <p:nvSpPr>
          <p:cNvPr id="6" name="TextBox 5"/>
          <p:cNvSpPr txBox="1"/>
          <p:nvPr/>
        </p:nvSpPr>
        <p:spPr>
          <a:xfrm>
            <a:off x="4522762" y="2681926"/>
            <a:ext cx="3165231" cy="830997"/>
          </a:xfrm>
          <a:prstGeom prst="rect">
            <a:avLst/>
          </a:prstGeom>
          <a:noFill/>
        </p:spPr>
        <p:txBody>
          <a:bodyPr wrap="square" rtlCol="0">
            <a:spAutoFit/>
          </a:bodyPr>
          <a:lstStyle/>
          <a:p>
            <a:r>
              <a:rPr lang="en-GB" sz="4800" b="1" i="1" dirty="0">
                <a:solidFill>
                  <a:schemeClr val="accent5">
                    <a:lumMod val="50000"/>
                  </a:schemeClr>
                </a:solidFill>
              </a:rPr>
              <a:t>Thank You</a:t>
            </a:r>
          </a:p>
        </p:txBody>
      </p:sp>
    </p:spTree>
    <p:extLst>
      <p:ext uri="{BB962C8B-B14F-4D97-AF65-F5344CB8AC3E}">
        <p14:creationId xmlns:p14="http://schemas.microsoft.com/office/powerpoint/2010/main" val="278046413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65</TotalTime>
  <Words>1647</Words>
  <Application>Microsoft Office PowerPoint</Application>
  <PresentationFormat>Widescreen</PresentationFormat>
  <Paragraphs>71</Paragraphs>
  <Slides>12</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12</vt:i4>
      </vt:variant>
    </vt:vector>
  </HeadingPairs>
  <TitlesOfParts>
    <vt:vector size="18" baseType="lpstr">
      <vt:lpstr>宋体</vt:lpstr>
      <vt:lpstr>Arial</vt:lpstr>
      <vt:lpstr>Calibri</vt:lpstr>
      <vt:lpstr>Calibri Light</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User</dc:creator>
  <cp:lastModifiedBy>Md. Shah Kamal</cp:lastModifiedBy>
  <cp:revision>16</cp:revision>
  <dcterms:created xsi:type="dcterms:W3CDTF">2020-11-21T08:59:39Z</dcterms:created>
  <dcterms:modified xsi:type="dcterms:W3CDTF">2026-01-12T07:45:45Z</dcterms:modified>
</cp:coreProperties>
</file>